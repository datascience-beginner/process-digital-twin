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Enterprise Digital Twin Platform roadmap. Production-grade architecture for 14+ years experience targeting AVEVA, Bentley Systems, Siemens senior positions. This demonstrates real enterprise skills, not academic projects.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Clear objective: Build enterprise system matching Fortune 500 standards. Layer-by-layer deployment ensures production quality at each step. Targets senior/principal engineer roles.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10-layer architecture covering all enterprise concerns: Edge connectivity (OPC UA/MQTT), streaming (Kafka/Flink), data lakehouse (Databricks/Snowflake), microservices, ML platform, frontend, infrastructure, observability, CI/CD, security.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Industry-standard technology stack. All tools explicitly mentioned in AVEVA/Bentley job descriptions. Databricks, Snowflake, Kubernetes, Istio - proven at scale by Fortune 500.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Week 1-2: Foundation. Infrastructure as Code with Terraform, Kubernetes cluster setup, automated CI/CD pipelines, microservices scaffolding, API Gateway, service mesh. Deliverable: Production environment ready for development.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Week 3-4: Data layer. Medallion architecture (Bronze-Silver-Gold) in Databricks, Snowflake data warehouse with star schema, real-time streaming pipeline with Kafka and Flink. This is the heart of any digital twin platform.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Week 5-6: Core microservices. Equipment service in C# with CQRS, Sensor service in Node.js with TimescaleDB, Analytics service in Python. All communicating via gRPC and Kafka, protected by API Gateway with OAuth.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Week 7-8: ML/AI platform demonstrating MLOps expertise. Feature store (Feast), MLflow for experiment tracking, distributed training in Databricks, production model serving with Seldon Core. Deploy predictive maintenance and anomaly detection models.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Week 9-10: User experience with modern frontend. React micro-frontends for modularity, Three.js for 3D plant visualization, React Flow for interactive P&amp;ID builder, real-time WebSocket dashboards with sub-second updates.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Week 11-12: Production observability and security. Full metrics/logs/traces stack (Prometheus, Grafana, ELK, Jaeger), Zero Trust security model, encryption everywhere, SAST/DAST scanning, compliance readiness (SOC2, GDPR).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Complete skill matrix demonstrating senior/principal level expertise. Not just backend OR frontend - full stack polyglot engineer. Not just cloud - cloud architect level. Not just ML - complete MLOps lifecycle. This is the differentiator.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Resume transformation showing enterprise impact. Each bullet demonstrates scale and production metrics. This is how senior engineers communicate at top companies - specific technologies, measurable outcomes, business impact.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Complete deliverables package: Live platform accessible 24/7, professional documentation, demo video, clean GitHub repository with CI/CD, interview preparation materials. Everything needed to land senior positions at industrial software leaders.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Quantifiable success metrics proving enterprise scale: 50+ technologies, 10 architectural layers, 12 microservices, processing 10 million events per day, maintaining 99.9% uptime. These numbers prove production-readiness.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Ready to execute. Week 1 Day 1 begins with GitHub and Azure setup. Each subsequent day builds one production-quality layer. Incremental deployment, continuous learning, enterprise outcomes. This roadmap is your path to senior engineer roles at the world's leading industrial software companies.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image" Target="../media/image-14-4.png"/><Relationship Id="rId5" Type="http://schemas.openxmlformats.org/officeDocument/2006/relationships/image" Target="../media/image-14-5.png"/><Relationship Id="rId6" Type="http://schemas.openxmlformats.org/officeDocument/2006/relationships/image" Target="../media/image-14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58970" y="1097459"/>
            <a:ext cx="7626060" cy="594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4680"/>
              </a:lnSpc>
              <a:spcAft>
                <a:spcPts val="1800"/>
              </a:spcAft>
              <a:buNone/>
            </a:pPr>
            <a:r>
              <a:rPr lang="en-US" sz="3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Enterprise Digital Twin Platform</a:t>
            </a:r>
            <a:endParaRPr lang="en-US" sz="3900" dirty="0"/>
          </a:p>
        </p:txBody>
      </p:sp>
      <p:sp>
        <p:nvSpPr>
          <p:cNvPr id="3" name="Text 1"/>
          <p:cNvSpPr/>
          <p:nvPr/>
        </p:nvSpPr>
        <p:spPr>
          <a:xfrm>
            <a:off x="767060" y="1996529"/>
            <a:ext cx="6800850" cy="3351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640"/>
              </a:lnSpc>
              <a:spcBef>
                <a:spcPts val="2400"/>
              </a:spcBef>
              <a:spcAft>
                <a:spcPts val="1200"/>
              </a:spcAft>
              <a:buNone/>
            </a:pPr>
            <a:r>
              <a:rPr lang="en-US" sz="16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Production-Grade Architecture Roadmap</a:t>
            </a:r>
            <a:endParaRPr lang="en-US" sz="1650" dirty="0"/>
          </a:p>
        </p:txBody>
      </p:sp>
      <p:sp>
        <p:nvSpPr>
          <p:cNvPr id="4" name="Text 2"/>
          <p:cNvSpPr/>
          <p:nvPr/>
        </p:nvSpPr>
        <p:spPr>
          <a:xfrm>
            <a:off x="767060" y="2712690"/>
            <a:ext cx="6800850" cy="3351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640"/>
              </a:lnSpc>
              <a:spcBef>
                <a:spcPts val="3000"/>
              </a:spcBef>
              <a:spcAft>
                <a:spcPts val="1200"/>
              </a:spcAft>
              <a:buNone/>
            </a:pPr>
            <a:r>
              <a:rPr lang="en-US" sz="16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Industrial Process Monitoring &amp; Predictive Analytics</a:t>
            </a:r>
            <a:endParaRPr lang="en-US" sz="1650" dirty="0"/>
          </a:p>
        </p:txBody>
      </p:sp>
      <p:sp>
        <p:nvSpPr>
          <p:cNvPr id="5" name="Text 3"/>
          <p:cNvSpPr/>
          <p:nvPr/>
        </p:nvSpPr>
        <p:spPr>
          <a:xfrm>
            <a:off x="767060" y="3619351"/>
            <a:ext cx="6800850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60"/>
              </a:lnSpc>
              <a:spcBef>
                <a:spcPts val="4500"/>
              </a:spcBef>
              <a:spcAft>
                <a:spcPts val="1200"/>
              </a:spcAft>
              <a:buNone/>
            </a:pPr>
            <a:r>
              <a:rPr lang="en-US" sz="13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Comprehensive 12-Week Implementation Guide</a:t>
            </a:r>
            <a:endParaRPr lang="en-US" sz="13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4206812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spcAft>
                <a:spcPts val="1800"/>
              </a:spcAft>
              <a:buNone/>
            </a:pPr>
            <a:r>
              <a:rPr lang="en-US" sz="2700" b="1" dirty="0">
                <a:solidFill>
                  <a:srgbClr val="0066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Executive Summary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457200" y="1028700"/>
            <a:ext cx="8394192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Aft>
                <a:spcPts val="1200"/>
              </a:spcAft>
              <a:buNone/>
            </a:pPr>
            <a:r>
              <a:rPr lang="en-US" sz="1350" b="1" dirty="0">
                <a:solidFill>
                  <a:srgbClr val="1A2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Goal:</a:t>
            </a:r>
            <a:pPr algn="l" indent="0" marL="0">
              <a:lnSpc>
                <a:spcPts val="2160"/>
              </a:lnSpc>
              <a:spcAft>
                <a:spcPts val="1200"/>
              </a:spcAft>
              <a:buNone/>
            </a:pPr>
            <a:r>
              <a:rPr lang="en-US" sz="1350" dirty="0">
                <a:solidFill>
                  <a:srgbClr val="1A2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Build enterprise-grade digital twin platform matching AVEVA/Bentley/Siemens production standards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457200" y="1455390"/>
            <a:ext cx="5145435" cy="929580"/>
          </a:xfrm>
          <a:prstGeom prst="roundRect">
            <a:avLst>
              <a:gd name="adj" fmla="val 8197"/>
            </a:avLst>
          </a:prstGeom>
          <a:solidFill>
            <a:srgbClr val="F5F7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476250" y="1455390"/>
            <a:ext cx="0" cy="929580"/>
          </a:xfrm>
          <a:prstGeom prst="line">
            <a:avLst/>
          </a:prstGeom>
          <a:noFill/>
          <a:ln w="38100">
            <a:solidFill>
              <a:srgbClr val="0066C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1645890"/>
            <a:ext cx="482086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spcAft>
                <a:spcPts val="600"/>
              </a:spcAft>
              <a:buNone/>
            </a:pPr>
            <a:r>
              <a:rPr lang="en-US" sz="1500" b="1" dirty="0">
                <a:solidFill>
                  <a:srgbClr val="004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🎯 Objective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85800" y="1950690"/>
            <a:ext cx="4820861" cy="2437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200" dirty="0">
                <a:solidFill>
                  <a:srgbClr val="5A6C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Production-ready system demonstrating senior-level architecture skills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" y="2651671"/>
            <a:ext cx="5145435" cy="929580"/>
          </a:xfrm>
          <a:prstGeom prst="roundRect">
            <a:avLst>
              <a:gd name="adj" fmla="val 8197"/>
            </a:avLst>
          </a:prstGeom>
          <a:solidFill>
            <a:srgbClr val="F5F7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Shape 7"/>
          <p:cNvSpPr/>
          <p:nvPr/>
        </p:nvSpPr>
        <p:spPr>
          <a:xfrm>
            <a:off x="476250" y="2651671"/>
            <a:ext cx="0" cy="929580"/>
          </a:xfrm>
          <a:prstGeom prst="line">
            <a:avLst/>
          </a:prstGeom>
          <a:noFill/>
          <a:ln w="38100">
            <a:solidFill>
              <a:srgbClr val="0066C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85800" y="2842171"/>
            <a:ext cx="482086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spcAft>
                <a:spcPts val="600"/>
              </a:spcAft>
              <a:buNone/>
            </a:pPr>
            <a:r>
              <a:rPr lang="en-US" sz="1500" b="1" dirty="0">
                <a:solidFill>
                  <a:srgbClr val="004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⏱️ Timeline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685800" y="3146971"/>
            <a:ext cx="4820861" cy="2437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200" dirty="0">
                <a:solidFill>
                  <a:srgbClr val="5A6C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 weeks, layer-by-layer deployment strategy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755035" y="1455390"/>
            <a:ext cx="2801987" cy="929580"/>
          </a:xfrm>
          <a:prstGeom prst="roundRect">
            <a:avLst>
              <a:gd name="adj" fmla="val 8197"/>
            </a:avLst>
          </a:prstGeom>
          <a:solidFill>
            <a:srgbClr val="F5F7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Shape 11"/>
          <p:cNvSpPr/>
          <p:nvPr/>
        </p:nvSpPr>
        <p:spPr>
          <a:xfrm>
            <a:off x="5774085" y="1455390"/>
            <a:ext cx="0" cy="929580"/>
          </a:xfrm>
          <a:prstGeom prst="line">
            <a:avLst/>
          </a:prstGeom>
          <a:noFill/>
          <a:ln w="38100">
            <a:solidFill>
              <a:srgbClr val="0066C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983635" y="1645890"/>
            <a:ext cx="243054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spcAft>
                <a:spcPts val="600"/>
              </a:spcAft>
              <a:buNone/>
            </a:pPr>
            <a:r>
              <a:rPr lang="en-US" sz="1500" b="1" dirty="0">
                <a:solidFill>
                  <a:srgbClr val="004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🏢 Target Companies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5983635" y="1950690"/>
            <a:ext cx="2430545" cy="2437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200" dirty="0">
                <a:solidFill>
                  <a:srgbClr val="5A6C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AVEVA, Bentley Systems, Siemens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755035" y="2651671"/>
            <a:ext cx="2801987" cy="929580"/>
          </a:xfrm>
          <a:prstGeom prst="roundRect">
            <a:avLst>
              <a:gd name="adj" fmla="val 8197"/>
            </a:avLst>
          </a:prstGeom>
          <a:solidFill>
            <a:srgbClr val="F5F7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Shape 15"/>
          <p:cNvSpPr/>
          <p:nvPr/>
        </p:nvSpPr>
        <p:spPr>
          <a:xfrm>
            <a:off x="5774085" y="2651671"/>
            <a:ext cx="0" cy="929580"/>
          </a:xfrm>
          <a:prstGeom prst="line">
            <a:avLst/>
          </a:prstGeom>
          <a:noFill/>
          <a:ln w="38100">
            <a:solidFill>
              <a:srgbClr val="0066C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983635" y="2842171"/>
            <a:ext cx="243054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spcAft>
                <a:spcPts val="600"/>
              </a:spcAft>
              <a:buNone/>
            </a:pPr>
            <a:r>
              <a:rPr lang="en-US" sz="1500" b="1" dirty="0">
                <a:solidFill>
                  <a:srgbClr val="004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💼 Role Level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5983635" y="3146971"/>
            <a:ext cx="2430545" cy="2437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200" dirty="0">
                <a:solidFill>
                  <a:srgbClr val="5A6C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Senior/Principal Engineer positions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57200" y="3886051"/>
            <a:ext cx="8394192" cy="2437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20"/>
              </a:lnSpc>
              <a:spcBef>
                <a:spcPts val="1500"/>
              </a:spcBef>
              <a:spcAft>
                <a:spcPts val="1200"/>
              </a:spcAft>
              <a:buNone/>
            </a:pPr>
            <a:r>
              <a:rPr lang="en-US" sz="1200" b="1" dirty="0">
                <a:solidFill>
                  <a:srgbClr val="5A6C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Principle:</a:t>
            </a:r>
            <a:pPr algn="l" indent="0" marL="0">
              <a:lnSpc>
                <a:spcPts val="1920"/>
              </a:lnSpc>
              <a:spcBef>
                <a:spcPts val="1500"/>
              </a:spcBef>
              <a:spcAft>
                <a:spcPts val="1200"/>
              </a:spcAft>
              <a:buNone/>
            </a:pPr>
            <a:r>
              <a:rPr lang="en-US" sz="1200" dirty="0">
                <a:solidFill>
                  <a:srgbClr val="5A6C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Each day delivers one deployable, production-quality layer with industry-standard tools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81000"/>
            <a:ext cx="4809173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spcAft>
                <a:spcPts val="1500"/>
              </a:spcAft>
              <a:buNone/>
            </a:pPr>
            <a:r>
              <a:rPr lang="en-US" sz="2400" b="1" dirty="0">
                <a:solidFill>
                  <a:srgbClr val="0066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10-Layer Enterprise Architecture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381000" y="904875"/>
            <a:ext cx="4095750" cy="457200"/>
          </a:xfrm>
          <a:prstGeom prst="rect">
            <a:avLst/>
          </a:prstGeom>
          <a:solidFill>
            <a:srgbClr val="F5F7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Shape 2"/>
          <p:cNvSpPr/>
          <p:nvPr/>
        </p:nvSpPr>
        <p:spPr>
          <a:xfrm>
            <a:off x="395288" y="904875"/>
            <a:ext cx="0" cy="457200"/>
          </a:xfrm>
          <a:prstGeom prst="line">
            <a:avLst/>
          </a:prstGeom>
          <a:noFill/>
          <a:ln w="28575">
            <a:solidFill>
              <a:srgbClr val="0066C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4825" y="1000125"/>
            <a:ext cx="3954209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004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L1:</a:t>
            </a:r>
            <a:pPr algn="l" indent="0" marL="0">
              <a:lnSpc>
                <a:spcPts val="21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500" dirty="0">
                <a:solidFill>
                  <a:srgbClr val="1A2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Edge &amp; IoT (OPC UA, MQTT)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381000" y="1571625"/>
            <a:ext cx="4095750" cy="457200"/>
          </a:xfrm>
          <a:prstGeom prst="rect">
            <a:avLst/>
          </a:prstGeom>
          <a:solidFill>
            <a:srgbClr val="F5F7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Shape 5"/>
          <p:cNvSpPr/>
          <p:nvPr/>
        </p:nvSpPr>
        <p:spPr>
          <a:xfrm>
            <a:off x="395288" y="1571625"/>
            <a:ext cx="0" cy="457200"/>
          </a:xfrm>
          <a:prstGeom prst="line">
            <a:avLst/>
          </a:prstGeom>
          <a:noFill/>
          <a:ln w="28575">
            <a:solidFill>
              <a:srgbClr val="0066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4825" y="1666875"/>
            <a:ext cx="3954209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004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L2:</a:t>
            </a:r>
            <a:pPr algn="l" indent="0" marL="0">
              <a:lnSpc>
                <a:spcPts val="21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500" dirty="0">
                <a:solidFill>
                  <a:srgbClr val="1A2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Streaming (Kafka, Flink)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381000" y="2238375"/>
            <a:ext cx="4095750" cy="457200"/>
          </a:xfrm>
          <a:prstGeom prst="rect">
            <a:avLst/>
          </a:prstGeom>
          <a:solidFill>
            <a:srgbClr val="F5F7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Shape 8"/>
          <p:cNvSpPr/>
          <p:nvPr/>
        </p:nvSpPr>
        <p:spPr>
          <a:xfrm>
            <a:off x="395288" y="2238375"/>
            <a:ext cx="0" cy="457200"/>
          </a:xfrm>
          <a:prstGeom prst="line">
            <a:avLst/>
          </a:prstGeom>
          <a:noFill/>
          <a:ln w="28575">
            <a:solidFill>
              <a:srgbClr val="0066C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4825" y="2333625"/>
            <a:ext cx="3954209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004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L3:</a:t>
            </a:r>
            <a:pPr algn="l" indent="0" marL="0">
              <a:lnSpc>
                <a:spcPts val="21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500" dirty="0">
                <a:solidFill>
                  <a:srgbClr val="1A2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Data Lake (Databricks, Snowflake)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381000" y="2905125"/>
            <a:ext cx="4095750" cy="457200"/>
          </a:xfrm>
          <a:prstGeom prst="rect">
            <a:avLst/>
          </a:prstGeom>
          <a:solidFill>
            <a:srgbClr val="F5F7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Shape 11"/>
          <p:cNvSpPr/>
          <p:nvPr/>
        </p:nvSpPr>
        <p:spPr>
          <a:xfrm>
            <a:off x="395288" y="2905125"/>
            <a:ext cx="0" cy="457200"/>
          </a:xfrm>
          <a:prstGeom prst="line">
            <a:avLst/>
          </a:prstGeom>
          <a:noFill/>
          <a:ln w="28575">
            <a:solidFill>
              <a:srgbClr val="0066C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4825" y="3000375"/>
            <a:ext cx="3954209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004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L4:</a:t>
            </a:r>
            <a:pPr algn="l" indent="0" marL="0">
              <a:lnSpc>
                <a:spcPts val="21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500" dirty="0">
                <a:solidFill>
                  <a:srgbClr val="1A2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Microservices (C#, Node.js, Python)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381000" y="3571875"/>
            <a:ext cx="4095750" cy="457200"/>
          </a:xfrm>
          <a:prstGeom prst="rect">
            <a:avLst/>
          </a:prstGeom>
          <a:solidFill>
            <a:srgbClr val="F5F7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Shape 14"/>
          <p:cNvSpPr/>
          <p:nvPr/>
        </p:nvSpPr>
        <p:spPr>
          <a:xfrm>
            <a:off x="395288" y="3571875"/>
            <a:ext cx="0" cy="457200"/>
          </a:xfrm>
          <a:prstGeom prst="line">
            <a:avLst/>
          </a:prstGeom>
          <a:noFill/>
          <a:ln w="28575">
            <a:solidFill>
              <a:srgbClr val="0066C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04825" y="3667125"/>
            <a:ext cx="3954209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004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L5:</a:t>
            </a:r>
            <a:pPr algn="l" indent="0" marL="0">
              <a:lnSpc>
                <a:spcPts val="21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500" dirty="0">
                <a:solidFill>
                  <a:srgbClr val="1A2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ML Platform (MLflow, Feast)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4667250" y="904875"/>
            <a:ext cx="4095750" cy="457200"/>
          </a:xfrm>
          <a:prstGeom prst="rect">
            <a:avLst/>
          </a:prstGeom>
          <a:solidFill>
            <a:srgbClr val="F5F7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Shape 17"/>
          <p:cNvSpPr/>
          <p:nvPr/>
        </p:nvSpPr>
        <p:spPr>
          <a:xfrm>
            <a:off x="4681538" y="904875"/>
            <a:ext cx="0" cy="457200"/>
          </a:xfrm>
          <a:prstGeom prst="line">
            <a:avLst/>
          </a:prstGeom>
          <a:noFill/>
          <a:ln w="28575">
            <a:solidFill>
              <a:srgbClr val="0066C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791075" y="1000125"/>
            <a:ext cx="3954209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004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L6:</a:t>
            </a:r>
            <a:pPr algn="l" indent="0" marL="0">
              <a:lnSpc>
                <a:spcPts val="21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500" dirty="0">
                <a:solidFill>
                  <a:srgbClr val="1A2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Frontend (React, Three.js)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4667250" y="1571625"/>
            <a:ext cx="4095750" cy="457200"/>
          </a:xfrm>
          <a:prstGeom prst="rect">
            <a:avLst/>
          </a:prstGeom>
          <a:solidFill>
            <a:srgbClr val="F5F7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Shape 20"/>
          <p:cNvSpPr/>
          <p:nvPr/>
        </p:nvSpPr>
        <p:spPr>
          <a:xfrm>
            <a:off x="4681538" y="1571625"/>
            <a:ext cx="0" cy="457200"/>
          </a:xfrm>
          <a:prstGeom prst="line">
            <a:avLst/>
          </a:prstGeom>
          <a:noFill/>
          <a:ln w="28575">
            <a:solidFill>
              <a:srgbClr val="0066C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791075" y="1666875"/>
            <a:ext cx="3954209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004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L7:</a:t>
            </a:r>
            <a:pPr algn="l" indent="0" marL="0">
              <a:lnSpc>
                <a:spcPts val="21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500" dirty="0">
                <a:solidFill>
                  <a:srgbClr val="1A2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Infrastructure (Kubernetes, Istio)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4667250" y="2238375"/>
            <a:ext cx="4095750" cy="457200"/>
          </a:xfrm>
          <a:prstGeom prst="rect">
            <a:avLst/>
          </a:prstGeom>
          <a:solidFill>
            <a:srgbClr val="F5F7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Shape 23"/>
          <p:cNvSpPr/>
          <p:nvPr/>
        </p:nvSpPr>
        <p:spPr>
          <a:xfrm>
            <a:off x="4681538" y="2238375"/>
            <a:ext cx="0" cy="457200"/>
          </a:xfrm>
          <a:prstGeom prst="line">
            <a:avLst/>
          </a:prstGeom>
          <a:noFill/>
          <a:ln w="28575">
            <a:solidFill>
              <a:srgbClr val="0066C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791075" y="2333625"/>
            <a:ext cx="3954209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004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L8:</a:t>
            </a:r>
            <a:pPr algn="l" indent="0" marL="0">
              <a:lnSpc>
                <a:spcPts val="21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500" dirty="0">
                <a:solidFill>
                  <a:srgbClr val="1A2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Observability (Prometheus, Grafana)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4667250" y="2905125"/>
            <a:ext cx="4095750" cy="457200"/>
          </a:xfrm>
          <a:prstGeom prst="rect">
            <a:avLst/>
          </a:prstGeom>
          <a:solidFill>
            <a:srgbClr val="F5F7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" name="Shape 26"/>
          <p:cNvSpPr/>
          <p:nvPr/>
        </p:nvSpPr>
        <p:spPr>
          <a:xfrm>
            <a:off x="4681538" y="2905125"/>
            <a:ext cx="0" cy="457200"/>
          </a:xfrm>
          <a:prstGeom prst="line">
            <a:avLst/>
          </a:prstGeom>
          <a:noFill/>
          <a:ln w="28575">
            <a:solidFill>
              <a:srgbClr val="0066CC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791075" y="3000375"/>
            <a:ext cx="3954209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004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L9:</a:t>
            </a:r>
            <a:pPr algn="l" indent="0" marL="0">
              <a:lnSpc>
                <a:spcPts val="21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500" dirty="0">
                <a:solidFill>
                  <a:srgbClr val="1A2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CI/CD (GitHub Actions, ArgoCD)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4667250" y="3571875"/>
            <a:ext cx="4095750" cy="457200"/>
          </a:xfrm>
          <a:prstGeom prst="rect">
            <a:avLst/>
          </a:prstGeom>
          <a:solidFill>
            <a:srgbClr val="F5F7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1" name="Shape 29"/>
          <p:cNvSpPr/>
          <p:nvPr/>
        </p:nvSpPr>
        <p:spPr>
          <a:xfrm>
            <a:off x="4681538" y="3571875"/>
            <a:ext cx="0" cy="457200"/>
          </a:xfrm>
          <a:prstGeom prst="line">
            <a:avLst/>
          </a:prstGeom>
          <a:noFill/>
          <a:ln w="28575">
            <a:solidFill>
              <a:srgbClr val="0066CC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791075" y="3667125"/>
            <a:ext cx="3954209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004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L10:</a:t>
            </a:r>
            <a:pPr algn="l" indent="0" marL="0">
              <a:lnSpc>
                <a:spcPts val="21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500" dirty="0">
                <a:solidFill>
                  <a:srgbClr val="1A2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Security (Zero Trust, Encryption)</a:t>
            </a:r>
            <a:endParaRPr lang="en-US" sz="1500" dirty="0"/>
          </a:p>
        </p:txBody>
      </p:sp>
      <p:sp>
        <p:nvSpPr>
          <p:cNvPr id="33" name="Text 31"/>
          <p:cNvSpPr/>
          <p:nvPr/>
        </p:nvSpPr>
        <p:spPr>
          <a:xfrm>
            <a:off x="381000" y="4210050"/>
            <a:ext cx="854964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spcBef>
                <a:spcPts val="1200"/>
              </a:spcBef>
              <a:spcAft>
                <a:spcPts val="300"/>
              </a:spcAft>
              <a:buNone/>
            </a:pPr>
            <a:r>
              <a:rPr lang="en-US" sz="1125" dirty="0">
                <a:solidFill>
                  <a:srgbClr val="5A6C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Production-grade patterns used by Fortune 500</a:t>
            </a:r>
            <a:endParaRPr lang="en-US" sz="1125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727691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spcAft>
                <a:spcPts val="1500"/>
              </a:spcAft>
              <a:buNone/>
            </a:pPr>
            <a:r>
              <a:rPr lang="en-US" sz="2700" b="1" dirty="0">
                <a:solidFill>
                  <a:srgbClr val="0066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Technology Stack - Industry Standard Tools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457200" y="990600"/>
            <a:ext cx="83941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en-US" sz="1500" b="1" dirty="0">
                <a:solidFill>
                  <a:srgbClr val="0066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Cloud &amp; Data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457200" y="1748730"/>
            <a:ext cx="83941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en-US" sz="1500" b="1" dirty="0">
                <a:solidFill>
                  <a:srgbClr val="0066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Backend &amp; APIs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457200" y="2506861"/>
            <a:ext cx="83941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en-US" sz="1500" b="1" dirty="0">
                <a:solidFill>
                  <a:srgbClr val="0066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ML/AI &amp; Analytics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457200" y="3264991"/>
            <a:ext cx="83941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en-US" sz="1500" b="1" dirty="0">
                <a:solidFill>
                  <a:srgbClr val="0066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DevOps &amp; Infrastructure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457200" y="4023122"/>
            <a:ext cx="83941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en-US" sz="1500" b="1" dirty="0">
                <a:solidFill>
                  <a:srgbClr val="0066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Observability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rasterized-gradient-5c76c43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758428"/>
            <a:ext cx="483831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600"/>
              </a:lnSpc>
              <a:spcAft>
                <a:spcPts val="1200"/>
              </a:spcAft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 1-2: Foundation</a:t>
            </a:r>
            <a:endParaRPr lang="en-US" sz="3600" dirty="0"/>
          </a:p>
        </p:txBody>
      </p:sp>
      <p:sp>
        <p:nvSpPr>
          <p:cNvPr id="4" name="Text 1"/>
          <p:cNvSpPr/>
          <p:nvPr/>
        </p:nvSpPr>
        <p:spPr>
          <a:xfrm>
            <a:off x="457200" y="1368028"/>
            <a:ext cx="4206812" cy="3385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67"/>
              </a:lnSpc>
              <a:spcAft>
                <a:spcPts val="2400"/>
              </a:spcAft>
              <a:buNone/>
            </a:pPr>
            <a:r>
              <a:rPr lang="en-US" sz="2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Infrastructure &amp; Core Services</a:t>
            </a:r>
            <a:endParaRPr lang="en-US" sz="2400" dirty="0"/>
          </a:p>
        </p:txBody>
      </p:sp>
      <p:sp>
        <p:nvSpPr>
          <p:cNvPr id="5" name="Text 2"/>
          <p:cNvSpPr/>
          <p:nvPr/>
        </p:nvSpPr>
        <p:spPr>
          <a:xfrm>
            <a:off x="457200" y="2011412"/>
            <a:ext cx="8229600" cy="1790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Infrastructure as Code with Terraform</a:t>
            </a:r>
            <a:endParaRPr lang="en-US" sz="1350" dirty="0"/>
          </a:p>
          <a:p>
            <a:pPr algn="l" marL="342900" indent="-342900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Kubernetes cluster setup (Azure AKS)</a:t>
            </a:r>
            <a:endParaRPr lang="en-US" sz="1350" dirty="0"/>
          </a:p>
          <a:p>
            <a:pPr algn="l" marL="342900" indent="-342900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CI/CD pipeline with GitHub Actions</a:t>
            </a:r>
            <a:endParaRPr lang="en-US" sz="1350" dirty="0"/>
          </a:p>
          <a:p>
            <a:pPr algn="l" marL="342900" indent="-342900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Microservices scaffolding (ASP.NET Core, NestJS)</a:t>
            </a:r>
            <a:endParaRPr lang="en-US" sz="1350" dirty="0"/>
          </a:p>
          <a:p>
            <a:pPr algn="l" marL="342900" indent="-342900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 Gateway configuration (Kong/Azure APIM)</a:t>
            </a:r>
            <a:endParaRPr lang="en-US" sz="1350" dirty="0"/>
          </a:p>
          <a:p>
            <a:pPr algn="l" marL="342900" indent="-342900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Service mesh deployment (Istio)</a:t>
            </a:r>
            <a:endParaRPr lang="en-US" sz="1350" dirty="0"/>
          </a:p>
        </p:txBody>
      </p:sp>
      <p:sp>
        <p:nvSpPr>
          <p:cNvPr id="6" name="Text 3"/>
          <p:cNvSpPr/>
          <p:nvPr/>
        </p:nvSpPr>
        <p:spPr>
          <a:xfrm>
            <a:off x="457200" y="4106912"/>
            <a:ext cx="8394192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90"/>
              </a:lnSpc>
              <a:spcBef>
                <a:spcPts val="2400"/>
              </a:spcBef>
              <a:spcAft>
                <a:spcPts val="300"/>
              </a:spcAft>
              <a:buNone/>
            </a:pPr>
            <a:r>
              <a:rPr lang="en-US" sz="13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Deliverable: Production Kubernetes environment with automated deployments</a:t>
            </a:r>
            <a:endParaRPr lang="en-US" sz="13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00050" y="400050"/>
            <a:ext cx="4265105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50"/>
              </a:lnSpc>
              <a:spcAft>
                <a:spcPts val="1350"/>
              </a:spcAft>
              <a:buNone/>
            </a:pPr>
            <a:r>
              <a:rPr lang="en-US" sz="2550" b="1" dirty="0">
                <a:solidFill>
                  <a:srgbClr val="0066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 3-4: Data Layer</a:t>
            </a:r>
            <a:endParaRPr lang="en-US" sz="2550" dirty="0"/>
          </a:p>
        </p:txBody>
      </p:sp>
      <p:sp>
        <p:nvSpPr>
          <p:cNvPr id="3" name="Text 1"/>
          <p:cNvSpPr/>
          <p:nvPr/>
        </p:nvSpPr>
        <p:spPr>
          <a:xfrm>
            <a:off x="400050" y="895350"/>
            <a:ext cx="4265105" cy="222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50"/>
              </a:lnSpc>
              <a:spcBef>
                <a:spcPts val="900"/>
              </a:spcBef>
              <a:spcAft>
                <a:spcPts val="600"/>
              </a:spcAft>
              <a:buNone/>
            </a:pPr>
            <a:r>
              <a:rPr lang="en-US" sz="1575" b="1" dirty="0">
                <a:solidFill>
                  <a:srgbClr val="00A8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Azure Data Lake &amp; Databricks</a:t>
            </a:r>
            <a:endParaRPr lang="en-US" sz="1575" dirty="0"/>
          </a:p>
        </p:txBody>
      </p:sp>
      <p:sp>
        <p:nvSpPr>
          <p:cNvPr id="4" name="Text 2"/>
          <p:cNvSpPr/>
          <p:nvPr/>
        </p:nvSpPr>
        <p:spPr>
          <a:xfrm>
            <a:off x="400050" y="1193750"/>
            <a:ext cx="8343900" cy="962025"/>
          </a:xfrm>
          <a:prstGeom prst="rect">
            <a:avLst/>
          </a:prstGeom>
          <a:noFill/>
          <a:ln/>
        </p:spPr>
        <p:txBody>
          <a:bodyPr wrap="square" lIns="104775" tIns="0" rIns="0" bIns="0" rtlCol="0" anchor="t"/>
          <a:lstStyle/>
          <a:p>
            <a:pPr algn="l" marL="104775" indent="-104775">
              <a:lnSpc>
                <a:spcPts val="2100"/>
              </a:lnSpc>
              <a:spcAft>
                <a:spcPts val="225"/>
              </a:spcAft>
              <a:buSzPct val="100000"/>
              <a:buChar char="•"/>
            </a:pPr>
            <a:r>
              <a:rPr lang="en-US" sz="1350" dirty="0">
                <a:solidFill>
                  <a:srgbClr val="1A2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Bronze-Silver-Gold medallion architecture</a:t>
            </a:r>
            <a:endParaRPr lang="en-US" sz="1350" dirty="0"/>
          </a:p>
          <a:p>
            <a:pPr algn="l" marL="104775" indent="-104775">
              <a:lnSpc>
                <a:spcPts val="2100"/>
              </a:lnSpc>
              <a:spcAft>
                <a:spcPts val="225"/>
              </a:spcAft>
              <a:buSzPct val="100000"/>
              <a:buChar char="•"/>
            </a:pPr>
            <a:r>
              <a:rPr lang="en-US" sz="1350" dirty="0">
                <a:solidFill>
                  <a:srgbClr val="1A2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ETL pipelines with PySpark and Delta Lake</a:t>
            </a:r>
            <a:endParaRPr lang="en-US" sz="1350" dirty="0"/>
          </a:p>
          <a:p>
            <a:pPr algn="l" marL="104775" indent="-104775">
              <a:lnSpc>
                <a:spcPts val="2100"/>
              </a:lnSpc>
              <a:spcAft>
                <a:spcPts val="225"/>
              </a:spcAft>
              <a:buSzPct val="100000"/>
              <a:buChar char="•"/>
            </a:pPr>
            <a:r>
              <a:rPr lang="en-US" sz="1350" dirty="0">
                <a:solidFill>
                  <a:srgbClr val="1A2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quality framework with Great Expectations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400050" y="2270075"/>
            <a:ext cx="4265105" cy="222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50"/>
              </a:lnSpc>
              <a:spcBef>
                <a:spcPts val="900"/>
              </a:spcBef>
              <a:spcAft>
                <a:spcPts val="600"/>
              </a:spcAft>
              <a:buNone/>
            </a:pPr>
            <a:r>
              <a:rPr lang="en-US" sz="1575" b="1" dirty="0">
                <a:solidFill>
                  <a:srgbClr val="00A8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Snowflake Data Warehouse</a:t>
            </a:r>
            <a:endParaRPr lang="en-US" sz="1575" dirty="0"/>
          </a:p>
        </p:txBody>
      </p:sp>
      <p:sp>
        <p:nvSpPr>
          <p:cNvPr id="6" name="Text 4"/>
          <p:cNvSpPr/>
          <p:nvPr/>
        </p:nvSpPr>
        <p:spPr>
          <a:xfrm>
            <a:off x="400050" y="2568476"/>
            <a:ext cx="8343900" cy="962025"/>
          </a:xfrm>
          <a:prstGeom prst="rect">
            <a:avLst/>
          </a:prstGeom>
          <a:noFill/>
          <a:ln/>
        </p:spPr>
        <p:txBody>
          <a:bodyPr wrap="square" lIns="104775" tIns="0" rIns="0" bIns="0" rtlCol="0" anchor="t"/>
          <a:lstStyle/>
          <a:p>
            <a:pPr algn="l" marL="104775" indent="-104775">
              <a:lnSpc>
                <a:spcPts val="2100"/>
              </a:lnSpc>
              <a:spcAft>
                <a:spcPts val="225"/>
              </a:spcAft>
              <a:buSzPct val="100000"/>
              <a:buChar char="•"/>
            </a:pPr>
            <a:r>
              <a:rPr lang="en-US" sz="1350" dirty="0">
                <a:solidFill>
                  <a:srgbClr val="1A2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 schema design for KPI queries</a:t>
            </a:r>
            <a:endParaRPr lang="en-US" sz="1350" dirty="0"/>
          </a:p>
          <a:p>
            <a:pPr algn="l" marL="104775" indent="-104775">
              <a:lnSpc>
                <a:spcPts val="2100"/>
              </a:lnSpc>
              <a:spcAft>
                <a:spcPts val="225"/>
              </a:spcAft>
              <a:buSzPct val="100000"/>
              <a:buChar char="•"/>
            </a:pPr>
            <a:r>
              <a:rPr lang="en-US" sz="1350" dirty="0">
                <a:solidFill>
                  <a:srgbClr val="1A2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Snowpipe for continuous data ingestion</a:t>
            </a:r>
            <a:endParaRPr lang="en-US" sz="1350" dirty="0"/>
          </a:p>
          <a:p>
            <a:pPr algn="l" marL="104775" indent="-104775">
              <a:lnSpc>
                <a:spcPts val="2100"/>
              </a:lnSpc>
              <a:spcAft>
                <a:spcPts val="225"/>
              </a:spcAft>
              <a:buSzPct val="100000"/>
              <a:buChar char="•"/>
            </a:pPr>
            <a:r>
              <a:rPr lang="en-US" sz="1350" dirty="0">
                <a:solidFill>
                  <a:srgbClr val="1A2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 travel and cloning capabilities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400050" y="3644801"/>
            <a:ext cx="4265105" cy="222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50"/>
              </a:lnSpc>
              <a:spcBef>
                <a:spcPts val="900"/>
              </a:spcBef>
              <a:spcAft>
                <a:spcPts val="600"/>
              </a:spcAft>
              <a:buNone/>
            </a:pPr>
            <a:r>
              <a:rPr lang="en-US" sz="1575" b="1" dirty="0">
                <a:solidFill>
                  <a:srgbClr val="00A8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Streaming Pipeline</a:t>
            </a:r>
            <a:endParaRPr lang="en-US" sz="1575" dirty="0"/>
          </a:p>
        </p:txBody>
      </p:sp>
      <p:sp>
        <p:nvSpPr>
          <p:cNvPr id="8" name="Text 6"/>
          <p:cNvSpPr/>
          <p:nvPr/>
        </p:nvSpPr>
        <p:spPr>
          <a:xfrm>
            <a:off x="400050" y="3943201"/>
            <a:ext cx="8343900" cy="628650"/>
          </a:xfrm>
          <a:prstGeom prst="rect">
            <a:avLst/>
          </a:prstGeom>
          <a:noFill/>
          <a:ln/>
        </p:spPr>
        <p:txBody>
          <a:bodyPr wrap="square" lIns="104775" tIns="0" rIns="0" bIns="0" rtlCol="0" anchor="t"/>
          <a:lstStyle/>
          <a:p>
            <a:pPr algn="l" marL="104775" indent="-104775">
              <a:lnSpc>
                <a:spcPts val="2100"/>
              </a:lnSpc>
              <a:spcAft>
                <a:spcPts val="225"/>
              </a:spcAft>
              <a:buSzPct val="100000"/>
              <a:buChar char="•"/>
            </a:pPr>
            <a:r>
              <a:rPr lang="en-US" sz="1350" dirty="0">
                <a:solidFill>
                  <a:srgbClr val="1A2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Kafka/Event Hubs for real-time ingestion</a:t>
            </a:r>
            <a:endParaRPr lang="en-US" sz="1350" dirty="0"/>
          </a:p>
          <a:p>
            <a:pPr algn="l" marL="104775" indent="-104775">
              <a:lnSpc>
                <a:spcPts val="2100"/>
              </a:lnSpc>
              <a:spcAft>
                <a:spcPts val="225"/>
              </a:spcAft>
              <a:buSzPct val="100000"/>
              <a:buChar char="•"/>
            </a:pPr>
            <a:r>
              <a:rPr lang="en-US" sz="1350" dirty="0">
                <a:solidFill>
                  <a:srgbClr val="1A2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Stream processing with Flink/Stream Analytics</a:t>
            </a:r>
            <a:endParaRPr lang="en-US" sz="13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42900" y="342900"/>
            <a:ext cx="4323398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spcAft>
                <a:spcPts val="1050"/>
              </a:spcAft>
              <a:buNone/>
            </a:pPr>
            <a:r>
              <a:rPr lang="en-US" sz="2400" b="1" dirty="0">
                <a:solidFill>
                  <a:srgbClr val="0066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 5-6: Core Services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342900" y="876300"/>
            <a:ext cx="2117979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spcBef>
                <a:spcPts val="750"/>
              </a:spcBef>
              <a:spcAft>
                <a:spcPts val="450"/>
              </a:spcAft>
              <a:buNone/>
            </a:pPr>
            <a:r>
              <a:rPr lang="en-US" sz="1350" b="1" dirty="0">
                <a:solidFill>
                  <a:srgbClr val="00A8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Equipment (C# ASP.NET)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342900" y="1276350"/>
            <a:ext cx="4143375" cy="609600"/>
          </a:xfrm>
          <a:prstGeom prst="rect">
            <a:avLst/>
          </a:prstGeom>
          <a:noFill/>
          <a:ln/>
        </p:spPr>
        <p:txBody>
          <a:bodyPr wrap="square" lIns="95250" tIns="0" rIns="0" bIns="0" rtlCol="0" anchor="t"/>
          <a:lstStyle/>
          <a:p>
            <a:pPr algn="l" marL="95250" indent="-95250">
              <a:lnSpc>
                <a:spcPts val="2100"/>
              </a:lnSpc>
              <a:spcAft>
                <a:spcPts val="150"/>
              </a:spcAft>
              <a:buSzPct val="100000"/>
              <a:buChar char="•"/>
            </a:pPr>
            <a:r>
              <a:rPr lang="en-US" sz="1350" dirty="0">
                <a:solidFill>
                  <a:srgbClr val="1A2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CQRS with EF Core + PostgreSQL</a:t>
            </a:r>
            <a:endParaRPr lang="en-US" sz="1350" dirty="0"/>
          </a:p>
          <a:p>
            <a:pPr algn="l" marL="95250" indent="-95250">
              <a:lnSpc>
                <a:spcPts val="2100"/>
              </a:lnSpc>
              <a:spcAft>
                <a:spcPts val="150"/>
              </a:spcAft>
              <a:buSzPct val="100000"/>
              <a:buChar char="•"/>
            </a:pPr>
            <a:r>
              <a:rPr lang="en-US" sz="1350" dirty="0">
                <a:solidFill>
                  <a:srgbClr val="1A2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GraphQL API with HotChocolate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342900" y="2133600"/>
            <a:ext cx="2117979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spcBef>
                <a:spcPts val="750"/>
              </a:spcBef>
              <a:spcAft>
                <a:spcPts val="450"/>
              </a:spcAft>
              <a:buNone/>
            </a:pPr>
            <a:r>
              <a:rPr lang="en-US" sz="1350" b="1" dirty="0">
                <a:solidFill>
                  <a:srgbClr val="00A8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Sensor (Node.js/NestJS)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342900" y="2533650"/>
            <a:ext cx="4143375" cy="609600"/>
          </a:xfrm>
          <a:prstGeom prst="rect">
            <a:avLst/>
          </a:prstGeom>
          <a:noFill/>
          <a:ln/>
        </p:spPr>
        <p:txBody>
          <a:bodyPr wrap="square" lIns="95250" tIns="0" rIns="0" bIns="0" rtlCol="0" anchor="t"/>
          <a:lstStyle/>
          <a:p>
            <a:pPr algn="l" marL="95250" indent="-95250">
              <a:lnSpc>
                <a:spcPts val="2100"/>
              </a:lnSpc>
              <a:spcAft>
                <a:spcPts val="150"/>
              </a:spcAft>
              <a:buSzPct val="100000"/>
              <a:buChar char="•"/>
            </a:pPr>
            <a:r>
              <a:rPr lang="en-US" sz="1350" dirty="0">
                <a:solidFill>
                  <a:srgbClr val="1A2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TimescaleDB for time-series</a:t>
            </a:r>
            <a:endParaRPr lang="en-US" sz="1350" dirty="0"/>
          </a:p>
          <a:p>
            <a:pPr algn="l" marL="95250" indent="-95250">
              <a:lnSpc>
                <a:spcPts val="2100"/>
              </a:lnSpc>
              <a:spcAft>
                <a:spcPts val="150"/>
              </a:spcAft>
              <a:buSzPct val="100000"/>
              <a:buChar char="•"/>
            </a:pPr>
            <a:r>
              <a:rPr lang="en-US" sz="1350" dirty="0">
                <a:solidFill>
                  <a:srgbClr val="1A2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WebSocket real-time streaming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342900" y="3390900"/>
            <a:ext cx="2244281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spcBef>
                <a:spcPts val="750"/>
              </a:spcBef>
              <a:spcAft>
                <a:spcPts val="450"/>
              </a:spcAft>
              <a:buNone/>
            </a:pPr>
            <a:r>
              <a:rPr lang="en-US" sz="1350" b="1" dirty="0">
                <a:solidFill>
                  <a:srgbClr val="00A8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Analytics (Python/FastAPI)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342900" y="3790950"/>
            <a:ext cx="4143375" cy="285750"/>
          </a:xfrm>
          <a:prstGeom prst="rect">
            <a:avLst/>
          </a:prstGeom>
          <a:noFill/>
          <a:ln/>
        </p:spPr>
        <p:txBody>
          <a:bodyPr wrap="square" lIns="95250" tIns="0" rIns="0" bIns="0" rtlCol="0" anchor="t"/>
          <a:lstStyle/>
          <a:p>
            <a:pPr algn="l" marL="95250" indent="-95250">
              <a:lnSpc>
                <a:spcPts val="2100"/>
              </a:lnSpc>
              <a:spcAft>
                <a:spcPts val="150"/>
              </a:spcAft>
              <a:buSzPct val="100000"/>
              <a:buChar char="•"/>
            </a:pPr>
            <a:r>
              <a:rPr lang="en-US" sz="1350" dirty="0">
                <a:solidFill>
                  <a:srgbClr val="1A2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ML model integration with Celery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4657725" y="1181100"/>
            <a:ext cx="2438591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spcBef>
                <a:spcPts val="750"/>
              </a:spcBef>
              <a:spcAft>
                <a:spcPts val="450"/>
              </a:spcAft>
              <a:buNone/>
            </a:pPr>
            <a:r>
              <a:rPr lang="en-US" sz="1350" b="1" dirty="0">
                <a:solidFill>
                  <a:srgbClr val="00A8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Inter-Service Communication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4657725" y="1581150"/>
            <a:ext cx="4143375" cy="933450"/>
          </a:xfrm>
          <a:prstGeom prst="rect">
            <a:avLst/>
          </a:prstGeom>
          <a:noFill/>
          <a:ln/>
        </p:spPr>
        <p:txBody>
          <a:bodyPr wrap="square" lIns="95250" tIns="0" rIns="0" bIns="0" rtlCol="0" anchor="t"/>
          <a:lstStyle/>
          <a:p>
            <a:pPr algn="l" marL="95250" indent="-95250">
              <a:lnSpc>
                <a:spcPts val="2100"/>
              </a:lnSpc>
              <a:spcAft>
                <a:spcPts val="150"/>
              </a:spcAft>
              <a:buSzPct val="100000"/>
              <a:buChar char="•"/>
            </a:pPr>
            <a:r>
              <a:rPr lang="en-US" sz="1350" dirty="0">
                <a:solidFill>
                  <a:srgbClr val="1A2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gRPC for synchronous calls</a:t>
            </a:r>
            <a:endParaRPr lang="en-US" sz="1350" dirty="0"/>
          </a:p>
          <a:p>
            <a:pPr algn="l" marL="95250" indent="-95250">
              <a:lnSpc>
                <a:spcPts val="2100"/>
              </a:lnSpc>
              <a:spcAft>
                <a:spcPts val="150"/>
              </a:spcAft>
              <a:buSzPct val="100000"/>
              <a:buChar char="•"/>
            </a:pPr>
            <a:r>
              <a:rPr lang="en-US" sz="1350" dirty="0">
                <a:solidFill>
                  <a:srgbClr val="1A2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Kafka event bus for async</a:t>
            </a:r>
            <a:endParaRPr lang="en-US" sz="1350" dirty="0"/>
          </a:p>
          <a:p>
            <a:pPr algn="l" marL="95250" indent="-95250">
              <a:lnSpc>
                <a:spcPts val="2100"/>
              </a:lnSpc>
              <a:spcAft>
                <a:spcPts val="150"/>
              </a:spcAft>
              <a:buSzPct val="100000"/>
              <a:buChar char="•"/>
            </a:pPr>
            <a:r>
              <a:rPr lang="en-US" sz="1350" dirty="0">
                <a:solidFill>
                  <a:srgbClr val="1A2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Polly for resilience patterns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4657725" y="2762250"/>
            <a:ext cx="2117979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spcBef>
                <a:spcPts val="750"/>
              </a:spcBef>
              <a:spcAft>
                <a:spcPts val="450"/>
              </a:spcAft>
              <a:buNone/>
            </a:pPr>
            <a:r>
              <a:rPr lang="en-US" sz="1350" b="1" dirty="0">
                <a:solidFill>
                  <a:srgbClr val="00A8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 Gateway &amp; Security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4657725" y="3162300"/>
            <a:ext cx="4143375" cy="609600"/>
          </a:xfrm>
          <a:prstGeom prst="rect">
            <a:avLst/>
          </a:prstGeom>
          <a:noFill/>
          <a:ln/>
        </p:spPr>
        <p:txBody>
          <a:bodyPr wrap="square" lIns="95250" tIns="0" rIns="0" bIns="0" rtlCol="0" anchor="t"/>
          <a:lstStyle/>
          <a:p>
            <a:pPr algn="l" marL="95250" indent="-95250">
              <a:lnSpc>
                <a:spcPts val="2100"/>
              </a:lnSpc>
              <a:spcAft>
                <a:spcPts val="150"/>
              </a:spcAft>
              <a:buSzPct val="100000"/>
              <a:buChar char="•"/>
            </a:pPr>
            <a:r>
              <a:rPr lang="en-US" sz="1350" dirty="0">
                <a:solidFill>
                  <a:srgbClr val="1A2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 limiting and OAuth 2.0</a:t>
            </a:r>
            <a:endParaRPr lang="en-US" sz="1350" dirty="0"/>
          </a:p>
          <a:p>
            <a:pPr algn="l" marL="95250" indent="-95250">
              <a:lnSpc>
                <a:spcPts val="2100"/>
              </a:lnSpc>
              <a:spcAft>
                <a:spcPts val="150"/>
              </a:spcAft>
              <a:buSzPct val="100000"/>
              <a:buChar char="•"/>
            </a:pPr>
            <a:r>
              <a:rPr lang="en-US" sz="1350" dirty="0">
                <a:solidFill>
                  <a:srgbClr val="1A2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Azure AD B2C with RBAC</a:t>
            </a:r>
            <a:endParaRPr lang="en-US" sz="13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42900" y="342900"/>
            <a:ext cx="4323398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spcAft>
                <a:spcPts val="1350"/>
              </a:spcAft>
              <a:buNone/>
            </a:pPr>
            <a:r>
              <a:rPr lang="en-US" sz="2400" b="1" dirty="0">
                <a:solidFill>
                  <a:srgbClr val="0066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 7-8: ML/AI Platform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342900" y="819150"/>
            <a:ext cx="432339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spcBef>
                <a:spcPts val="900"/>
              </a:spcBef>
              <a:spcAft>
                <a:spcPts val="600"/>
              </a:spcAft>
              <a:buNone/>
            </a:pPr>
            <a:r>
              <a:rPr lang="en-US" sz="1350" b="1" dirty="0">
                <a:solidFill>
                  <a:srgbClr val="00A8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Feature Store (Feast)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342900" y="1085850"/>
            <a:ext cx="8458200" cy="571500"/>
          </a:xfrm>
          <a:prstGeom prst="rect">
            <a:avLst/>
          </a:prstGeom>
          <a:noFill/>
          <a:ln/>
        </p:spPr>
        <p:txBody>
          <a:bodyPr wrap="square" lIns="104775" tIns="0" rIns="0" bIns="0" rtlCol="0" anchor="t"/>
          <a:lstStyle/>
          <a:p>
            <a:pPr algn="l" marL="104775" indent="-104775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1A2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Centralized features for online and offline serving</a:t>
            </a:r>
            <a:endParaRPr lang="en-US" sz="1350" dirty="0"/>
          </a:p>
          <a:p>
            <a:pPr algn="l" marL="104775" indent="-104775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1A2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Point-in-time correctness for training data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342900" y="1771650"/>
            <a:ext cx="432339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spcBef>
                <a:spcPts val="900"/>
              </a:spcBef>
              <a:spcAft>
                <a:spcPts val="600"/>
              </a:spcAft>
              <a:buNone/>
            </a:pPr>
            <a:r>
              <a:rPr lang="en-US" sz="1350" b="1" dirty="0">
                <a:solidFill>
                  <a:srgbClr val="00A8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 Training &amp; Registry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342900" y="2038350"/>
            <a:ext cx="8458200" cy="876300"/>
          </a:xfrm>
          <a:prstGeom prst="rect">
            <a:avLst/>
          </a:prstGeom>
          <a:noFill/>
          <a:ln/>
        </p:spPr>
        <p:txBody>
          <a:bodyPr wrap="square" lIns="104775" tIns="0" rIns="0" bIns="0" rtlCol="0" anchor="t"/>
          <a:lstStyle/>
          <a:p>
            <a:pPr algn="l" marL="104775" indent="-104775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1A2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Databricks ML for distributed training</a:t>
            </a:r>
            <a:endParaRPr lang="en-US" sz="1350" dirty="0"/>
          </a:p>
          <a:p>
            <a:pPr algn="l" marL="104775" indent="-104775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1A2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MLflow experiment tracking and model registry</a:t>
            </a:r>
            <a:endParaRPr lang="en-US" sz="1350" dirty="0"/>
          </a:p>
          <a:p>
            <a:pPr algn="l" marL="104775" indent="-104775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1A2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Hyperparameter tuning with Optuna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342900" y="3028950"/>
            <a:ext cx="432339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spcBef>
                <a:spcPts val="900"/>
              </a:spcBef>
              <a:spcAft>
                <a:spcPts val="600"/>
              </a:spcAft>
              <a:buNone/>
            </a:pPr>
            <a:r>
              <a:rPr lang="en-US" sz="1350" b="1" dirty="0">
                <a:solidFill>
                  <a:srgbClr val="00A8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 Deployment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342900" y="3295650"/>
            <a:ext cx="8458200" cy="571500"/>
          </a:xfrm>
          <a:prstGeom prst="rect">
            <a:avLst/>
          </a:prstGeom>
          <a:noFill/>
          <a:ln/>
        </p:spPr>
        <p:txBody>
          <a:bodyPr wrap="square" lIns="104775" tIns="0" rIns="0" bIns="0" rtlCol="0" anchor="t"/>
          <a:lstStyle/>
          <a:p>
            <a:pPr algn="l" marL="104775" indent="-104775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1A2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Azure ML endpoints for real-time inference</a:t>
            </a:r>
            <a:endParaRPr lang="en-US" sz="1350" dirty="0"/>
          </a:p>
          <a:p>
            <a:pPr algn="l" marL="104775" indent="-104775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1A2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Seldon Core on Kubernetes with A/B testing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342900" y="3981450"/>
            <a:ext cx="8458200" cy="876300"/>
          </a:xfrm>
          <a:prstGeom prst="rect">
            <a:avLst/>
          </a:prstGeom>
          <a:solidFill>
            <a:srgbClr val="F5F7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Shape 8"/>
          <p:cNvSpPr/>
          <p:nvPr/>
        </p:nvSpPr>
        <p:spPr>
          <a:xfrm>
            <a:off x="357188" y="3981450"/>
            <a:ext cx="0" cy="876300"/>
          </a:xfrm>
          <a:prstGeom prst="line">
            <a:avLst/>
          </a:prstGeom>
          <a:noFill/>
          <a:ln w="28575">
            <a:solidFill>
              <a:srgbClr val="0066C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4825" y="4152900"/>
            <a:ext cx="8326184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1A2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Models:</a:t>
            </a:r>
            <a:pPr algn="l" indent="0" marL="0">
              <a:lnSpc>
                <a:spcPts val="21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500" dirty="0">
                <a:solidFill>
                  <a:srgbClr val="1A2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Predictive Maintenance (LSTM), Anomaly Detection (Isolation Forest), Optimization (RL)</a:t>
            </a:r>
            <a:endParaRPr lang="en-US" sz="15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42900" y="342900"/>
            <a:ext cx="5353241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spcAft>
                <a:spcPts val="1500"/>
              </a:spcAft>
              <a:buNone/>
            </a:pPr>
            <a:r>
              <a:rPr lang="en-US" sz="2400" b="1" dirty="0">
                <a:solidFill>
                  <a:srgbClr val="0066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 9-10: Frontend &amp; Visualization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342900" y="838200"/>
            <a:ext cx="432339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spcBef>
                <a:spcPts val="1050"/>
              </a:spcBef>
              <a:spcAft>
                <a:spcPts val="600"/>
              </a:spcAft>
              <a:buNone/>
            </a:pPr>
            <a:r>
              <a:rPr lang="en-US" sz="1350" b="1" dirty="0">
                <a:solidFill>
                  <a:srgbClr val="0066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 Application (React + TypeScript)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342900" y="1104900"/>
            <a:ext cx="8458200" cy="990600"/>
          </a:xfrm>
          <a:prstGeom prst="rect">
            <a:avLst/>
          </a:prstGeom>
          <a:noFill/>
          <a:ln/>
        </p:spPr>
        <p:txBody>
          <a:bodyPr wrap="square" lIns="104775" tIns="0" rIns="0" bIns="0" rtlCol="0" anchor="t"/>
          <a:lstStyle/>
          <a:p>
            <a:pPr algn="l" marL="104775" indent="-104775">
              <a:lnSpc>
                <a:spcPts val="2100"/>
              </a:lnSpc>
              <a:spcAft>
                <a:spcPts val="300"/>
              </a:spcAft>
              <a:buSzPct val="100000"/>
              <a:buChar char="•"/>
            </a:pPr>
            <a:r>
              <a:rPr lang="en-US" sz="1350" dirty="0">
                <a:solidFill>
                  <a:srgbClr val="1A2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Micro-frontends with Module Federation</a:t>
            </a:r>
            <a:endParaRPr lang="en-US" sz="1350" dirty="0"/>
          </a:p>
          <a:p>
            <a:pPr algn="l" marL="104775" indent="-104775">
              <a:lnSpc>
                <a:spcPts val="2100"/>
              </a:lnSpc>
              <a:spcAft>
                <a:spcPts val="300"/>
              </a:spcAft>
              <a:buSzPct val="100000"/>
              <a:buChar char="•"/>
            </a:pPr>
            <a:r>
              <a:rPr lang="en-US" sz="1350" dirty="0">
                <a:solidFill>
                  <a:srgbClr val="1A2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State management with Redux Toolkit</a:t>
            </a:r>
            <a:endParaRPr lang="en-US" sz="1350" dirty="0"/>
          </a:p>
          <a:p>
            <a:pPr algn="l" marL="104775" indent="-104775">
              <a:lnSpc>
                <a:spcPts val="2100"/>
              </a:lnSpc>
              <a:spcAft>
                <a:spcPts val="300"/>
              </a:spcAft>
              <a:buSzPct val="100000"/>
              <a:buChar char="•"/>
            </a:pPr>
            <a:r>
              <a:rPr lang="en-US" sz="1350" dirty="0">
                <a:solidFill>
                  <a:srgbClr val="1A2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Progressive Web App (PWA) capabilities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342900" y="2228850"/>
            <a:ext cx="432339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spcBef>
                <a:spcPts val="1050"/>
              </a:spcBef>
              <a:spcAft>
                <a:spcPts val="600"/>
              </a:spcAft>
              <a:buNone/>
            </a:pPr>
            <a:r>
              <a:rPr lang="en-US" sz="1350" b="1" dirty="0">
                <a:solidFill>
                  <a:srgbClr val="0066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3D Visualization &amp; P&amp;ID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342900" y="2495550"/>
            <a:ext cx="8458200" cy="990600"/>
          </a:xfrm>
          <a:prstGeom prst="rect">
            <a:avLst/>
          </a:prstGeom>
          <a:noFill/>
          <a:ln/>
        </p:spPr>
        <p:txBody>
          <a:bodyPr wrap="square" lIns="104775" tIns="0" rIns="0" bIns="0" rtlCol="0" anchor="t"/>
          <a:lstStyle/>
          <a:p>
            <a:pPr algn="l" marL="104775" indent="-104775">
              <a:lnSpc>
                <a:spcPts val="2100"/>
              </a:lnSpc>
              <a:spcAft>
                <a:spcPts val="300"/>
              </a:spcAft>
              <a:buSzPct val="100000"/>
              <a:buChar char="•"/>
            </a:pPr>
            <a:r>
              <a:rPr lang="en-US" sz="1350" dirty="0">
                <a:solidFill>
                  <a:srgbClr val="1A2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Three.js for 3D equipment models (WebGL)</a:t>
            </a:r>
            <a:endParaRPr lang="en-US" sz="1350" dirty="0"/>
          </a:p>
          <a:p>
            <a:pPr algn="l" marL="104775" indent="-104775">
              <a:lnSpc>
                <a:spcPts val="2100"/>
              </a:lnSpc>
              <a:spcAft>
                <a:spcPts val="300"/>
              </a:spcAft>
              <a:buSzPct val="100000"/>
              <a:buChar char="•"/>
            </a:pPr>
            <a:r>
              <a:rPr lang="en-US" sz="1350" dirty="0">
                <a:solidFill>
                  <a:srgbClr val="1A2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React Flow for interactive P&amp;ID builder</a:t>
            </a:r>
            <a:endParaRPr lang="en-US" sz="1350" dirty="0"/>
          </a:p>
          <a:p>
            <a:pPr algn="l" marL="104775" indent="-104775">
              <a:lnSpc>
                <a:spcPts val="2100"/>
              </a:lnSpc>
              <a:spcAft>
                <a:spcPts val="300"/>
              </a:spcAft>
              <a:buSzPct val="100000"/>
              <a:buChar char="•"/>
            </a:pPr>
            <a:r>
              <a:rPr lang="en-US" sz="1350" dirty="0">
                <a:solidFill>
                  <a:srgbClr val="1A2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Real-time sensor overlay on models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342900" y="3619500"/>
            <a:ext cx="432339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spcBef>
                <a:spcPts val="1050"/>
              </a:spcBef>
              <a:spcAft>
                <a:spcPts val="600"/>
              </a:spcAft>
              <a:buNone/>
            </a:pPr>
            <a:r>
              <a:rPr lang="en-US" sz="1350" b="1" dirty="0">
                <a:solidFill>
                  <a:srgbClr val="0066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Real-Time Dashboard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342900" y="3886200"/>
            <a:ext cx="8458200" cy="647700"/>
          </a:xfrm>
          <a:prstGeom prst="rect">
            <a:avLst/>
          </a:prstGeom>
          <a:noFill/>
          <a:ln/>
        </p:spPr>
        <p:txBody>
          <a:bodyPr wrap="square" lIns="104775" tIns="0" rIns="0" bIns="0" rtlCol="0" anchor="t"/>
          <a:lstStyle/>
          <a:p>
            <a:pPr algn="l" marL="104775" indent="-104775">
              <a:lnSpc>
                <a:spcPts val="2100"/>
              </a:lnSpc>
              <a:spcAft>
                <a:spcPts val="300"/>
              </a:spcAft>
              <a:buSzPct val="100000"/>
              <a:buChar char="•"/>
            </a:pPr>
            <a:r>
              <a:rPr lang="en-US" sz="1350" dirty="0">
                <a:solidFill>
                  <a:srgbClr val="1A2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WebSocket integration with SignalR</a:t>
            </a:r>
            <a:endParaRPr lang="en-US" sz="1350" dirty="0"/>
          </a:p>
          <a:p>
            <a:pPr algn="l" marL="104775" indent="-104775">
              <a:lnSpc>
                <a:spcPts val="2100"/>
              </a:lnSpc>
              <a:spcAft>
                <a:spcPts val="300"/>
              </a:spcAft>
              <a:buSzPct val="100000"/>
              <a:buChar char="•"/>
            </a:pPr>
            <a:r>
              <a:rPr lang="en-US" sz="1350" dirty="0">
                <a:solidFill>
                  <a:srgbClr val="1A2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Sub-second data refresh with React Query</a:t>
            </a:r>
            <a:endParaRPr lang="en-US" sz="13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42900" y="342900"/>
            <a:ext cx="5460111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spcAft>
                <a:spcPts val="1350"/>
              </a:spcAft>
              <a:buNone/>
            </a:pPr>
            <a:r>
              <a:rPr lang="en-US" sz="2400" b="1" dirty="0">
                <a:solidFill>
                  <a:srgbClr val="0066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 11-12: Observability &amp; Security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342900" y="1085850"/>
            <a:ext cx="2117979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spcBef>
                <a:spcPts val="900"/>
              </a:spcBef>
              <a:spcAft>
                <a:spcPts val="600"/>
              </a:spcAft>
              <a:buNone/>
            </a:pPr>
            <a:r>
              <a:rPr lang="en-US" sz="1350" b="1" dirty="0">
                <a:solidFill>
                  <a:srgbClr val="00A8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Observability Stack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342900" y="1504950"/>
            <a:ext cx="4133850" cy="1485900"/>
          </a:xfrm>
          <a:prstGeom prst="rect">
            <a:avLst/>
          </a:prstGeom>
          <a:noFill/>
          <a:ln/>
        </p:spPr>
        <p:txBody>
          <a:bodyPr wrap="square" lIns="104775" tIns="0" rIns="0" bIns="0" rtlCol="0" anchor="t"/>
          <a:lstStyle/>
          <a:p>
            <a:pPr algn="l" marL="104775" indent="-104775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1A2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Metrics: Prometheus + Grafana</a:t>
            </a:r>
            <a:endParaRPr lang="en-US" sz="1350" dirty="0"/>
          </a:p>
          <a:p>
            <a:pPr algn="l" marL="104775" indent="-104775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1A2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Logs: ELK Stack (Elasticsearch, Kibana)</a:t>
            </a:r>
            <a:endParaRPr lang="en-US" sz="1350" dirty="0"/>
          </a:p>
          <a:p>
            <a:pPr algn="l" marL="104775" indent="-104775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1A2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Traces: Jaeger with OpenTelemetry</a:t>
            </a:r>
            <a:endParaRPr lang="en-US" sz="1350" dirty="0"/>
          </a:p>
          <a:p>
            <a:pPr algn="l" marL="104775" indent="-104775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1A2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APM: Azure Application Insights</a:t>
            </a:r>
            <a:endParaRPr lang="en-US" sz="1350" dirty="0"/>
          </a:p>
          <a:p>
            <a:pPr algn="l" marL="104775" indent="-104775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1A2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SLO/SLI monitoring with alerts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342900" y="3257550"/>
            <a:ext cx="2117979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spcBef>
                <a:spcPts val="900"/>
              </a:spcBef>
              <a:spcAft>
                <a:spcPts val="600"/>
              </a:spcAft>
              <a:buNone/>
            </a:pPr>
            <a:r>
              <a:rPr lang="en-US" sz="1350" b="1" dirty="0">
                <a:solidFill>
                  <a:srgbClr val="00A8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Performance Testing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342900" y="3676650"/>
            <a:ext cx="4133850" cy="571500"/>
          </a:xfrm>
          <a:prstGeom prst="rect">
            <a:avLst/>
          </a:prstGeom>
          <a:noFill/>
          <a:ln/>
        </p:spPr>
        <p:txBody>
          <a:bodyPr wrap="square" lIns="104775" tIns="0" rIns="0" bIns="0" rtlCol="0" anchor="t"/>
          <a:lstStyle/>
          <a:p>
            <a:pPr algn="l" marL="104775" indent="-104775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1A2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 testing with k6</a:t>
            </a:r>
            <a:endParaRPr lang="en-US" sz="1350" dirty="0"/>
          </a:p>
          <a:p>
            <a:pPr algn="l" marL="104775" indent="-104775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1A2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Chaos engineering with fault injection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4667250" y="933450"/>
            <a:ext cx="2117979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spcBef>
                <a:spcPts val="900"/>
              </a:spcBef>
              <a:spcAft>
                <a:spcPts val="600"/>
              </a:spcAft>
              <a:buNone/>
            </a:pPr>
            <a:r>
              <a:rPr lang="en-US" sz="1350" b="1" dirty="0">
                <a:solidFill>
                  <a:srgbClr val="00A8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Security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4667250" y="1352550"/>
            <a:ext cx="4133850" cy="1790700"/>
          </a:xfrm>
          <a:prstGeom prst="rect">
            <a:avLst/>
          </a:prstGeom>
          <a:noFill/>
          <a:ln/>
        </p:spPr>
        <p:txBody>
          <a:bodyPr wrap="square" lIns="104775" tIns="0" rIns="0" bIns="0" rtlCol="0" anchor="t"/>
          <a:lstStyle/>
          <a:p>
            <a:pPr algn="l" marL="104775" indent="-104775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1A2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Zero Trust architecture</a:t>
            </a:r>
            <a:endParaRPr lang="en-US" sz="1350" dirty="0"/>
          </a:p>
          <a:p>
            <a:pPr algn="l" marL="104775" indent="-104775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1A2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Azure AD with MFA</a:t>
            </a:r>
            <a:endParaRPr lang="en-US" sz="1350" dirty="0"/>
          </a:p>
          <a:p>
            <a:pPr algn="l" marL="104775" indent="-104775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1A2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TLS 1.3 and AES-256 encryption</a:t>
            </a:r>
            <a:endParaRPr lang="en-US" sz="1350" dirty="0"/>
          </a:p>
          <a:p>
            <a:pPr algn="l" marL="104775" indent="-104775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1A2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Azure Key Vault for secrets</a:t>
            </a:r>
            <a:endParaRPr lang="en-US" sz="1350" dirty="0"/>
          </a:p>
          <a:p>
            <a:pPr algn="l" marL="104775" indent="-104775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1A2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WAF and DDoS protection</a:t>
            </a:r>
            <a:endParaRPr lang="en-US" sz="1350" dirty="0"/>
          </a:p>
          <a:p>
            <a:pPr algn="l" marL="104775" indent="-104775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1A2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SAST/DAST scanning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4667250" y="3409950"/>
            <a:ext cx="2117979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spcBef>
                <a:spcPts val="900"/>
              </a:spcBef>
              <a:spcAft>
                <a:spcPts val="600"/>
              </a:spcAft>
              <a:buNone/>
            </a:pPr>
            <a:r>
              <a:rPr lang="en-US" sz="1350" b="1" dirty="0">
                <a:solidFill>
                  <a:srgbClr val="00A8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Compliance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4667250" y="3829050"/>
            <a:ext cx="4133850" cy="571500"/>
          </a:xfrm>
          <a:prstGeom prst="rect">
            <a:avLst/>
          </a:prstGeom>
          <a:noFill/>
          <a:ln/>
        </p:spPr>
        <p:txBody>
          <a:bodyPr wrap="square" lIns="104775" tIns="0" rIns="0" bIns="0" rtlCol="0" anchor="t"/>
          <a:lstStyle/>
          <a:p>
            <a:pPr algn="l" marL="104775" indent="-104775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1A2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OWASP Top 10 mitigation</a:t>
            </a:r>
            <a:endParaRPr lang="en-US" sz="1350" dirty="0"/>
          </a:p>
          <a:p>
            <a:pPr algn="l" marL="104775" indent="-104775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1A2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GDPR and SOC 2 readiness</a:t>
            </a:r>
            <a:endParaRPr lang="en-US" sz="13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42900" y="342900"/>
            <a:ext cx="4614863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spcAft>
                <a:spcPts val="1500"/>
              </a:spcAft>
              <a:buNone/>
            </a:pPr>
            <a:r>
              <a:rPr lang="en-US" sz="2400" b="1" dirty="0">
                <a:solidFill>
                  <a:srgbClr val="0066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Enterprise Skills Demonstrated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342900" y="4476750"/>
            <a:ext cx="8627364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spcBef>
                <a:spcPts val="1200"/>
              </a:spcBef>
              <a:spcAft>
                <a:spcPts val="300"/>
              </a:spcAft>
              <a:buNone/>
            </a:pPr>
            <a:r>
              <a:rPr lang="en-US" sz="1050" b="1" dirty="0">
                <a:solidFill>
                  <a:srgbClr val="5A6C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Technologies:</a:t>
            </a:r>
            <a:pPr algn="l" indent="0" marL="0">
              <a:lnSpc>
                <a:spcPts val="1470"/>
              </a:lnSpc>
              <a:spcBef>
                <a:spcPts val="1200"/>
              </a:spcBef>
              <a:spcAft>
                <a:spcPts val="300"/>
              </a:spcAft>
              <a:buNone/>
            </a:pPr>
            <a:r>
              <a:rPr lang="en-US" sz="1050" dirty="0">
                <a:solidFill>
                  <a:srgbClr val="5A6C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50+ production-grade tools | </a:t>
            </a:r>
            <a:pPr algn="l" indent="0" marL="0">
              <a:lnSpc>
                <a:spcPts val="1470"/>
              </a:lnSpc>
              <a:spcBef>
                <a:spcPts val="1200"/>
              </a:spcBef>
              <a:spcAft>
                <a:spcPts val="300"/>
              </a:spcAft>
              <a:buNone/>
            </a:pPr>
            <a:r>
              <a:rPr lang="en-US" sz="1050" b="1" dirty="0">
                <a:solidFill>
                  <a:srgbClr val="5A6C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Certification Ready:</a:t>
            </a:r>
            <a:pPr algn="l" indent="0" marL="0">
              <a:lnSpc>
                <a:spcPts val="1470"/>
              </a:lnSpc>
              <a:spcBef>
                <a:spcPts val="1200"/>
              </a:spcBef>
              <a:spcAft>
                <a:spcPts val="300"/>
              </a:spcAft>
              <a:buNone/>
            </a:pPr>
            <a:r>
              <a:rPr lang="en-US" sz="1050" dirty="0">
                <a:solidFill>
                  <a:srgbClr val="5A6C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Azure Solutions Architect, CKA, Databricks</a:t>
            </a:r>
            <a:endParaRPr lang="en-US" sz="10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3850" y="323850"/>
            <a:ext cx="4342829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spcAft>
                <a:spcPts val="1050"/>
              </a:spcAft>
              <a:buNone/>
            </a:pPr>
            <a:r>
              <a:rPr lang="en-US" sz="2400" b="1" dirty="0">
                <a:solidFill>
                  <a:srgbClr val="0066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Resume Transformation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323850" y="762000"/>
            <a:ext cx="4342829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spcBef>
                <a:spcPts val="750"/>
              </a:spcBef>
              <a:spcAft>
                <a:spcPts val="450"/>
              </a:spcAft>
              <a:buNone/>
            </a:pPr>
            <a:r>
              <a:rPr lang="en-US" sz="1350" b="1" dirty="0">
                <a:solidFill>
                  <a:srgbClr val="00A8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 Title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323850" y="1009650"/>
            <a:ext cx="8496300" cy="381000"/>
          </a:xfrm>
          <a:prstGeom prst="rect">
            <a:avLst/>
          </a:prstGeom>
          <a:solidFill>
            <a:srgbClr val="F5F7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338138" y="1009650"/>
            <a:ext cx="0" cy="381000"/>
          </a:xfrm>
          <a:prstGeom prst="line">
            <a:avLst/>
          </a:prstGeom>
          <a:noFill/>
          <a:ln w="28575">
            <a:solidFill>
              <a:srgbClr val="0066C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47675" y="1066800"/>
            <a:ext cx="844277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A2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Refinery Digital Twin Platform</a:t>
            </a:r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1A2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- Principal Engineer | 2024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323850" y="1485900"/>
            <a:ext cx="4342829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spcBef>
                <a:spcPts val="750"/>
              </a:spcBef>
              <a:spcAft>
                <a:spcPts val="450"/>
              </a:spcAft>
              <a:buNone/>
            </a:pPr>
            <a:r>
              <a:rPr lang="en-US" sz="1350" b="1" dirty="0">
                <a:solidFill>
                  <a:srgbClr val="00A8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Achievements (Sample Bullets)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323850" y="1733550"/>
            <a:ext cx="8496300" cy="381000"/>
          </a:xfrm>
          <a:prstGeom prst="rect">
            <a:avLst/>
          </a:prstGeom>
          <a:solidFill>
            <a:srgbClr val="F5F7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Shape 7"/>
          <p:cNvSpPr/>
          <p:nvPr/>
        </p:nvSpPr>
        <p:spPr>
          <a:xfrm>
            <a:off x="338138" y="1733550"/>
            <a:ext cx="0" cy="381000"/>
          </a:xfrm>
          <a:prstGeom prst="line">
            <a:avLst/>
          </a:prstGeom>
          <a:noFill/>
          <a:ln w="28575">
            <a:solidFill>
              <a:srgbClr val="0066C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47675" y="1790700"/>
            <a:ext cx="844277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1A2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Architected microservices platform with 12+ services using DDD, CQRS on Kubernetes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323850" y="2152650"/>
            <a:ext cx="8496300" cy="381000"/>
          </a:xfrm>
          <a:prstGeom prst="rect">
            <a:avLst/>
          </a:prstGeom>
          <a:solidFill>
            <a:srgbClr val="F5F7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Shape 10"/>
          <p:cNvSpPr/>
          <p:nvPr/>
        </p:nvSpPr>
        <p:spPr>
          <a:xfrm>
            <a:off x="338138" y="2152650"/>
            <a:ext cx="0" cy="381000"/>
          </a:xfrm>
          <a:prstGeom prst="line">
            <a:avLst/>
          </a:prstGeom>
          <a:noFill/>
          <a:ln w="28575">
            <a:solidFill>
              <a:srgbClr val="0066C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47675" y="2209800"/>
            <a:ext cx="844277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1A2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Built Databricks ETL pipelines processing 10M+ sensor readings daily with Delta Lake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323850" y="2571750"/>
            <a:ext cx="8496300" cy="381000"/>
          </a:xfrm>
          <a:prstGeom prst="rect">
            <a:avLst/>
          </a:prstGeom>
          <a:solidFill>
            <a:srgbClr val="F5F7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Shape 13"/>
          <p:cNvSpPr/>
          <p:nvPr/>
        </p:nvSpPr>
        <p:spPr>
          <a:xfrm>
            <a:off x="338138" y="2571750"/>
            <a:ext cx="0" cy="381000"/>
          </a:xfrm>
          <a:prstGeom prst="line">
            <a:avLst/>
          </a:prstGeom>
          <a:noFill/>
          <a:ln w="28575">
            <a:solidFill>
              <a:srgbClr val="0066C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47675" y="2628900"/>
            <a:ext cx="844277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1A2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Implemented Kafka/Flink streaming achieving &lt;100ms latency for critical alarms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323850" y="2990850"/>
            <a:ext cx="8496300" cy="381000"/>
          </a:xfrm>
          <a:prstGeom prst="rect">
            <a:avLst/>
          </a:prstGeom>
          <a:solidFill>
            <a:srgbClr val="F5F7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Shape 16"/>
          <p:cNvSpPr/>
          <p:nvPr/>
        </p:nvSpPr>
        <p:spPr>
          <a:xfrm>
            <a:off x="338138" y="2990850"/>
            <a:ext cx="0" cy="381000"/>
          </a:xfrm>
          <a:prstGeom prst="line">
            <a:avLst/>
          </a:prstGeom>
          <a:noFill/>
          <a:ln w="28575">
            <a:solidFill>
              <a:srgbClr val="0066C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47675" y="3048000"/>
            <a:ext cx="844277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1A2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Established MLOps pipeline with MLflow deploying predictive models (87% accuracy)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323850" y="3409950"/>
            <a:ext cx="8496300" cy="381000"/>
          </a:xfrm>
          <a:prstGeom prst="rect">
            <a:avLst/>
          </a:prstGeom>
          <a:solidFill>
            <a:srgbClr val="F5F7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Shape 19"/>
          <p:cNvSpPr/>
          <p:nvPr/>
        </p:nvSpPr>
        <p:spPr>
          <a:xfrm>
            <a:off x="338138" y="3409950"/>
            <a:ext cx="0" cy="381000"/>
          </a:xfrm>
          <a:prstGeom prst="line">
            <a:avLst/>
          </a:prstGeom>
          <a:noFill/>
          <a:ln w="28575">
            <a:solidFill>
              <a:srgbClr val="0066C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47675" y="3467100"/>
            <a:ext cx="844277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1A2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Provisioned multi-region Azure infrastructure with Terraform (99.95% SLA)</a:t>
            </a:r>
            <a:endParaRPr lang="en-US" sz="15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42900" y="342900"/>
            <a:ext cx="4323398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spcAft>
                <a:spcPts val="1350"/>
              </a:spcAft>
              <a:buNone/>
            </a:pPr>
            <a:r>
              <a:rPr lang="en-US" sz="2400" b="1" dirty="0">
                <a:solidFill>
                  <a:srgbClr val="0066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Final Deliverables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342900" y="819150"/>
            <a:ext cx="8458200" cy="864691"/>
          </a:xfrm>
          <a:prstGeom prst="rect">
            <a:avLst/>
          </a:prstGeom>
          <a:solidFill>
            <a:srgbClr val="F5F7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Shape 2"/>
          <p:cNvSpPr/>
          <p:nvPr/>
        </p:nvSpPr>
        <p:spPr>
          <a:xfrm>
            <a:off x="361950" y="819150"/>
            <a:ext cx="0" cy="864691"/>
          </a:xfrm>
          <a:prstGeom prst="line">
            <a:avLst/>
          </a:prstGeom>
          <a:noFill/>
          <a:ln w="38100">
            <a:solidFill>
              <a:srgbClr val="00A86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95300" y="933450"/>
            <a:ext cx="8355330" cy="205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20"/>
              </a:lnSpc>
              <a:spcAft>
                <a:spcPts val="450"/>
              </a:spcAft>
              <a:buNone/>
            </a:pPr>
            <a:r>
              <a:rPr lang="en-US" sz="1350" b="1" dirty="0">
                <a:solidFill>
                  <a:srgbClr val="0066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📦 Production-Ready Platform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495300" y="1196280"/>
            <a:ext cx="8355330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buNone/>
            </a:pPr>
            <a:r>
              <a:rPr lang="en-US" sz="975" dirty="0">
                <a:solidFill>
                  <a:srgbClr val="1A2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URL accessible 24/7 | Real-time monitoring | ML predictions</a:t>
            </a:r>
            <a:endParaRPr lang="en-US" sz="975" dirty="0"/>
          </a:p>
        </p:txBody>
      </p:sp>
      <p:sp>
        <p:nvSpPr>
          <p:cNvPr id="7" name="Text 5"/>
          <p:cNvSpPr/>
          <p:nvPr/>
        </p:nvSpPr>
        <p:spPr>
          <a:xfrm>
            <a:off x="342900" y="1760041"/>
            <a:ext cx="8458200" cy="664666"/>
          </a:xfrm>
          <a:prstGeom prst="rect">
            <a:avLst/>
          </a:prstGeom>
          <a:solidFill>
            <a:srgbClr val="F5F7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Shape 6"/>
          <p:cNvSpPr/>
          <p:nvPr/>
        </p:nvSpPr>
        <p:spPr>
          <a:xfrm>
            <a:off x="361950" y="1760041"/>
            <a:ext cx="0" cy="664666"/>
          </a:xfrm>
          <a:prstGeom prst="line">
            <a:avLst/>
          </a:prstGeom>
          <a:noFill/>
          <a:ln w="38100">
            <a:solidFill>
              <a:srgbClr val="00A86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95300" y="1874341"/>
            <a:ext cx="8355330" cy="205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20"/>
              </a:lnSpc>
              <a:spcAft>
                <a:spcPts val="450"/>
              </a:spcAft>
              <a:buNone/>
            </a:pPr>
            <a:r>
              <a:rPr lang="en-US" sz="1350" b="1" dirty="0">
                <a:solidFill>
                  <a:srgbClr val="0066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📚 Documentation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495300" y="2137172"/>
            <a:ext cx="8355330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buNone/>
            </a:pPr>
            <a:r>
              <a:rPr lang="en-US" sz="975" dirty="0">
                <a:solidFill>
                  <a:srgbClr val="1A2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Architecture diagrams | API documentation (OpenAPI) | Deployment guides</a:t>
            </a:r>
            <a:endParaRPr lang="en-US" sz="975" dirty="0"/>
          </a:p>
        </p:txBody>
      </p:sp>
      <p:sp>
        <p:nvSpPr>
          <p:cNvPr id="11" name="Text 9"/>
          <p:cNvSpPr/>
          <p:nvPr/>
        </p:nvSpPr>
        <p:spPr>
          <a:xfrm>
            <a:off x="342900" y="2500908"/>
            <a:ext cx="8458200" cy="664666"/>
          </a:xfrm>
          <a:prstGeom prst="rect">
            <a:avLst/>
          </a:prstGeom>
          <a:solidFill>
            <a:srgbClr val="F5F7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Shape 10"/>
          <p:cNvSpPr/>
          <p:nvPr/>
        </p:nvSpPr>
        <p:spPr>
          <a:xfrm>
            <a:off x="361950" y="2500908"/>
            <a:ext cx="0" cy="664666"/>
          </a:xfrm>
          <a:prstGeom prst="line">
            <a:avLst/>
          </a:prstGeom>
          <a:noFill/>
          <a:ln w="38100">
            <a:solidFill>
              <a:srgbClr val="00A86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95300" y="2615208"/>
            <a:ext cx="8355330" cy="205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20"/>
              </a:lnSpc>
              <a:spcAft>
                <a:spcPts val="450"/>
              </a:spcAft>
              <a:buNone/>
            </a:pPr>
            <a:r>
              <a:rPr lang="en-US" sz="1350" b="1" dirty="0">
                <a:solidFill>
                  <a:srgbClr val="0066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🎥 Demo Materials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495300" y="2878038"/>
            <a:ext cx="8355330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buNone/>
            </a:pPr>
            <a:r>
              <a:rPr lang="en-US" sz="975" dirty="0">
                <a:solidFill>
                  <a:srgbClr val="1A2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5-minute walkthrough video | Live demo script | Technical deep-dive</a:t>
            </a:r>
            <a:endParaRPr lang="en-US" sz="975" dirty="0"/>
          </a:p>
        </p:txBody>
      </p:sp>
      <p:sp>
        <p:nvSpPr>
          <p:cNvPr id="15" name="Text 13"/>
          <p:cNvSpPr/>
          <p:nvPr/>
        </p:nvSpPr>
        <p:spPr>
          <a:xfrm>
            <a:off x="342900" y="3241774"/>
            <a:ext cx="8458200" cy="664666"/>
          </a:xfrm>
          <a:prstGeom prst="rect">
            <a:avLst/>
          </a:prstGeom>
          <a:solidFill>
            <a:srgbClr val="F5F7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Shape 14"/>
          <p:cNvSpPr/>
          <p:nvPr/>
        </p:nvSpPr>
        <p:spPr>
          <a:xfrm>
            <a:off x="361950" y="3241774"/>
            <a:ext cx="0" cy="664666"/>
          </a:xfrm>
          <a:prstGeom prst="line">
            <a:avLst/>
          </a:prstGeom>
          <a:noFill/>
          <a:ln w="38100">
            <a:solidFill>
              <a:srgbClr val="00A86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95300" y="3356074"/>
            <a:ext cx="8355330" cy="205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20"/>
              </a:lnSpc>
              <a:spcAft>
                <a:spcPts val="450"/>
              </a:spcAft>
              <a:buNone/>
            </a:pPr>
            <a:r>
              <a:rPr lang="en-US" sz="1350" b="1" dirty="0">
                <a:solidFill>
                  <a:srgbClr val="0066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💻 GitHub Portfolio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495300" y="3618905"/>
            <a:ext cx="8355330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buNone/>
            </a:pPr>
            <a:r>
              <a:rPr lang="en-US" sz="975" dirty="0">
                <a:solidFill>
                  <a:srgbClr val="1A2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Clean, documented code | CI/CD workflows | 85%+ test coverage</a:t>
            </a:r>
            <a:endParaRPr lang="en-US" sz="975" dirty="0"/>
          </a:p>
        </p:txBody>
      </p:sp>
      <p:sp>
        <p:nvSpPr>
          <p:cNvPr id="19" name="Text 17"/>
          <p:cNvSpPr/>
          <p:nvPr/>
        </p:nvSpPr>
        <p:spPr>
          <a:xfrm>
            <a:off x="342900" y="3982641"/>
            <a:ext cx="8458200" cy="664666"/>
          </a:xfrm>
          <a:prstGeom prst="rect">
            <a:avLst/>
          </a:prstGeom>
          <a:solidFill>
            <a:srgbClr val="F5F7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Shape 18"/>
          <p:cNvSpPr/>
          <p:nvPr/>
        </p:nvSpPr>
        <p:spPr>
          <a:xfrm>
            <a:off x="361950" y="3982641"/>
            <a:ext cx="0" cy="664666"/>
          </a:xfrm>
          <a:prstGeom prst="line">
            <a:avLst/>
          </a:prstGeom>
          <a:noFill/>
          <a:ln w="38100">
            <a:solidFill>
              <a:srgbClr val="00A86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95300" y="4096941"/>
            <a:ext cx="8355330" cy="205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20"/>
              </a:lnSpc>
              <a:spcAft>
                <a:spcPts val="450"/>
              </a:spcAft>
              <a:buNone/>
            </a:pPr>
            <a:r>
              <a:rPr lang="en-US" sz="1350" b="1" dirty="0">
                <a:solidFill>
                  <a:srgbClr val="0066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🎯 Interview Readiness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495300" y="4359771"/>
            <a:ext cx="8355330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buNone/>
            </a:pPr>
            <a:r>
              <a:rPr lang="en-US" sz="975" dirty="0">
                <a:solidFill>
                  <a:srgbClr val="1A2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 method stories | Technical deep-dive preparation | System design walkthrough</a:t>
            </a:r>
            <a:endParaRPr lang="en-US" sz="975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42900" y="342900"/>
            <a:ext cx="4323398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spcAft>
                <a:spcPts val="1500"/>
              </a:spcAft>
              <a:buNone/>
            </a:pPr>
            <a:r>
              <a:rPr lang="en-US" sz="2400" b="1" dirty="0">
                <a:solidFill>
                  <a:srgbClr val="0066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Success Metrics</a:t>
            </a:r>
            <a:endParaRPr lang="en-US" sz="2400" dirty="0"/>
          </a:p>
        </p:txBody>
      </p:sp>
      <p:pic>
        <p:nvPicPr>
          <p:cNvPr id="3" name="Image 0" descr="/tmp/rasterized-gradient-24e0c2d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42900" y="838200"/>
            <a:ext cx="2717750" cy="106918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04198" y="1028700"/>
            <a:ext cx="1195007" cy="4444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3500"/>
              </a:lnSpc>
              <a:buNone/>
            </a:pPr>
            <a:r>
              <a:rPr lang="en-US" sz="3150" b="1" dirty="0">
                <a:solidFill>
                  <a:srgbClr val="0066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50+</a:t>
            </a:r>
            <a:endParaRPr lang="en-US" sz="3150" dirty="0"/>
          </a:p>
        </p:txBody>
      </p:sp>
      <p:sp>
        <p:nvSpPr>
          <p:cNvPr id="5" name="Text 2"/>
          <p:cNvSpPr/>
          <p:nvPr/>
        </p:nvSpPr>
        <p:spPr>
          <a:xfrm>
            <a:off x="510032" y="1530251"/>
            <a:ext cx="2383485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70"/>
              </a:lnSpc>
              <a:spcBef>
                <a:spcPts val="450"/>
              </a:spcBef>
              <a:buNone/>
            </a:pPr>
            <a:r>
              <a:rPr lang="en-US" sz="1050" dirty="0">
                <a:solidFill>
                  <a:srgbClr val="1A2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Enterprise Technologies</a:t>
            </a:r>
            <a:endParaRPr lang="en-US" sz="1050" dirty="0"/>
          </a:p>
        </p:txBody>
      </p:sp>
      <p:pic>
        <p:nvPicPr>
          <p:cNvPr id="6" name="Image 1" descr="/tmp/rasterized-gradient-d12857c3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13050" y="838200"/>
            <a:ext cx="2717750" cy="1069181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3974348" y="1028700"/>
            <a:ext cx="1195007" cy="4444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3500"/>
              </a:lnSpc>
              <a:buNone/>
            </a:pPr>
            <a:r>
              <a:rPr lang="en-US" sz="3150" b="1" dirty="0">
                <a:solidFill>
                  <a:srgbClr val="0066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3150" dirty="0"/>
          </a:p>
        </p:txBody>
      </p:sp>
      <p:sp>
        <p:nvSpPr>
          <p:cNvPr id="8" name="Text 4"/>
          <p:cNvSpPr/>
          <p:nvPr/>
        </p:nvSpPr>
        <p:spPr>
          <a:xfrm>
            <a:off x="3380183" y="1530251"/>
            <a:ext cx="2383485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70"/>
              </a:lnSpc>
              <a:spcBef>
                <a:spcPts val="450"/>
              </a:spcBef>
              <a:buNone/>
            </a:pPr>
            <a:r>
              <a:rPr lang="en-US" sz="1050" dirty="0">
                <a:solidFill>
                  <a:srgbClr val="1A2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Architecture Layers</a:t>
            </a:r>
            <a:endParaRPr lang="en-US" sz="1050" dirty="0"/>
          </a:p>
        </p:txBody>
      </p:sp>
      <p:pic>
        <p:nvPicPr>
          <p:cNvPr id="9" name="Image 2" descr="/tmp/rasterized-gradient-82d1eb4b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83201" y="838200"/>
            <a:ext cx="2717899" cy="1069181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6844647" y="1028700"/>
            <a:ext cx="1195007" cy="4444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3500"/>
              </a:lnSpc>
              <a:buNone/>
            </a:pPr>
            <a:r>
              <a:rPr lang="en-US" sz="3150" b="1" dirty="0">
                <a:solidFill>
                  <a:srgbClr val="0066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3150" dirty="0"/>
          </a:p>
        </p:txBody>
      </p:sp>
      <p:sp>
        <p:nvSpPr>
          <p:cNvPr id="11" name="Text 6"/>
          <p:cNvSpPr/>
          <p:nvPr/>
        </p:nvSpPr>
        <p:spPr>
          <a:xfrm>
            <a:off x="6250332" y="1530251"/>
            <a:ext cx="2383637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70"/>
              </a:lnSpc>
              <a:spcBef>
                <a:spcPts val="450"/>
              </a:spcBef>
              <a:buNone/>
            </a:pPr>
            <a:r>
              <a:rPr lang="en-US" sz="1050" dirty="0">
                <a:solidFill>
                  <a:srgbClr val="1A2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Microservices</a:t>
            </a:r>
            <a:endParaRPr lang="en-US" sz="1050" dirty="0"/>
          </a:p>
        </p:txBody>
      </p:sp>
      <p:pic>
        <p:nvPicPr>
          <p:cNvPr id="12" name="Image 3" descr="/tmp/rasterized-gradient-2f233033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2900" y="2059781"/>
            <a:ext cx="2717750" cy="1069181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1104198" y="2250281"/>
            <a:ext cx="1195007" cy="4444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3500"/>
              </a:lnSpc>
              <a:buNone/>
            </a:pPr>
            <a:r>
              <a:rPr lang="en-US" sz="3150" b="1" dirty="0">
                <a:solidFill>
                  <a:srgbClr val="0066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10M+</a:t>
            </a:r>
            <a:endParaRPr lang="en-US" sz="3150" dirty="0"/>
          </a:p>
        </p:txBody>
      </p:sp>
      <p:sp>
        <p:nvSpPr>
          <p:cNvPr id="14" name="Text 8"/>
          <p:cNvSpPr/>
          <p:nvPr/>
        </p:nvSpPr>
        <p:spPr>
          <a:xfrm>
            <a:off x="510032" y="2751832"/>
            <a:ext cx="2383485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70"/>
              </a:lnSpc>
              <a:spcBef>
                <a:spcPts val="450"/>
              </a:spcBef>
              <a:buNone/>
            </a:pPr>
            <a:r>
              <a:rPr lang="en-US" sz="1050" dirty="0">
                <a:solidFill>
                  <a:srgbClr val="1A2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Events Per Day</a:t>
            </a:r>
            <a:endParaRPr lang="en-US" sz="1050" dirty="0"/>
          </a:p>
        </p:txBody>
      </p:sp>
      <p:pic>
        <p:nvPicPr>
          <p:cNvPr id="15" name="Image 4" descr="/tmp/rasterized-gradient-37cbf983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13050" y="2059781"/>
            <a:ext cx="2717750" cy="1069181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3974348" y="2250281"/>
            <a:ext cx="1195007" cy="4444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3500"/>
              </a:lnSpc>
              <a:buNone/>
            </a:pPr>
            <a:r>
              <a:rPr lang="en-US" sz="3150" b="1" dirty="0">
                <a:solidFill>
                  <a:srgbClr val="0066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99.9%</a:t>
            </a:r>
            <a:endParaRPr lang="en-US" sz="3150" dirty="0"/>
          </a:p>
        </p:txBody>
      </p:sp>
      <p:sp>
        <p:nvSpPr>
          <p:cNvPr id="17" name="Text 10"/>
          <p:cNvSpPr/>
          <p:nvPr/>
        </p:nvSpPr>
        <p:spPr>
          <a:xfrm>
            <a:off x="3380183" y="2751832"/>
            <a:ext cx="2383485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70"/>
              </a:lnSpc>
              <a:spcBef>
                <a:spcPts val="450"/>
              </a:spcBef>
              <a:buNone/>
            </a:pPr>
            <a:r>
              <a:rPr lang="en-US" sz="1050" dirty="0">
                <a:solidFill>
                  <a:srgbClr val="1A2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Uptime SLA</a:t>
            </a:r>
            <a:endParaRPr lang="en-US" sz="1050" dirty="0"/>
          </a:p>
        </p:txBody>
      </p:sp>
      <p:pic>
        <p:nvPicPr>
          <p:cNvPr id="18" name="Image 5" descr="/tmp/rasterized-gradient-53b3072c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83201" y="2059781"/>
            <a:ext cx="2717899" cy="1069181"/>
          </a:xfrm>
          <a:prstGeom prst="rect">
            <a:avLst/>
          </a:prstGeom>
        </p:spPr>
      </p:pic>
      <p:sp>
        <p:nvSpPr>
          <p:cNvPr id="19" name="Text 11"/>
          <p:cNvSpPr/>
          <p:nvPr/>
        </p:nvSpPr>
        <p:spPr>
          <a:xfrm>
            <a:off x="6844647" y="2250281"/>
            <a:ext cx="1195007" cy="4444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3500"/>
              </a:lnSpc>
              <a:buNone/>
            </a:pPr>
            <a:r>
              <a:rPr lang="en-US" sz="3150" b="1" dirty="0">
                <a:solidFill>
                  <a:srgbClr val="0066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85%</a:t>
            </a:r>
            <a:endParaRPr lang="en-US" sz="3150" dirty="0"/>
          </a:p>
        </p:txBody>
      </p:sp>
      <p:sp>
        <p:nvSpPr>
          <p:cNvPr id="20" name="Text 12"/>
          <p:cNvSpPr/>
          <p:nvPr/>
        </p:nvSpPr>
        <p:spPr>
          <a:xfrm>
            <a:off x="6250332" y="2751832"/>
            <a:ext cx="2383637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70"/>
              </a:lnSpc>
              <a:spcBef>
                <a:spcPts val="450"/>
              </a:spcBef>
              <a:buNone/>
            </a:pPr>
            <a:r>
              <a:rPr lang="en-US" sz="1050" dirty="0">
                <a:solidFill>
                  <a:srgbClr val="1A2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 Coverage</a:t>
            </a:r>
            <a:endParaRPr lang="en-US" sz="1050" dirty="0"/>
          </a:p>
        </p:txBody>
      </p:sp>
      <p:sp>
        <p:nvSpPr>
          <p:cNvPr id="21" name="Text 13"/>
          <p:cNvSpPr/>
          <p:nvPr/>
        </p:nvSpPr>
        <p:spPr>
          <a:xfrm>
            <a:off x="342900" y="3319463"/>
            <a:ext cx="8458200" cy="1146572"/>
          </a:xfrm>
          <a:prstGeom prst="roundRect">
            <a:avLst>
              <a:gd name="adj" fmla="val 6646"/>
            </a:avLst>
          </a:prstGeom>
          <a:solidFill>
            <a:srgbClr val="00A8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14"/>
          <p:cNvSpPr/>
          <p:nvPr/>
        </p:nvSpPr>
        <p:spPr>
          <a:xfrm>
            <a:off x="433197" y="3490913"/>
            <a:ext cx="8277606" cy="2513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980"/>
              </a:lnSpc>
              <a:spcAft>
                <a:spcPts val="750"/>
              </a:spcAft>
              <a:buNone/>
            </a:pPr>
            <a:r>
              <a:rPr lang="en-US" sz="16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 Outcome</a:t>
            </a:r>
            <a:endParaRPr lang="en-US" sz="1650" dirty="0"/>
          </a:p>
        </p:txBody>
      </p:sp>
      <p:sp>
        <p:nvSpPr>
          <p:cNvPr id="23" name="Text 15"/>
          <p:cNvSpPr/>
          <p:nvPr/>
        </p:nvSpPr>
        <p:spPr>
          <a:xfrm>
            <a:off x="433197" y="3837533"/>
            <a:ext cx="827760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Senior/Principal Engineer offers from AVEVA, Bentley Systems, or Siemens</a:t>
            </a:r>
            <a:endParaRPr lang="en-US" sz="1200" dirty="0"/>
          </a:p>
        </p:txBody>
      </p:sp>
      <p:sp>
        <p:nvSpPr>
          <p:cNvPr id="24" name="Text 16"/>
          <p:cNvSpPr/>
          <p:nvPr/>
        </p:nvSpPr>
        <p:spPr>
          <a:xfrm>
            <a:off x="433197" y="4107954"/>
            <a:ext cx="8277606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70"/>
              </a:lnSpc>
              <a:spcBef>
                <a:spcPts val="450"/>
              </a:spcBef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$120K-$180K+ (US) | £60K-£90K+ (UK) | €70K-€110K+ (EU)</a:t>
            </a:r>
            <a:endParaRPr lang="en-US" sz="10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rasterized-gradient-29f847f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474911"/>
            <a:ext cx="42068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600"/>
              </a:lnSpc>
              <a:spcAft>
                <a:spcPts val="2400"/>
              </a:spcAft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Ready to Begin?</a:t>
            </a:r>
            <a:endParaRPr lang="en-US" sz="3600" dirty="0"/>
          </a:p>
        </p:txBody>
      </p:sp>
      <p:sp>
        <p:nvSpPr>
          <p:cNvPr id="4" name="Text 1"/>
          <p:cNvSpPr/>
          <p:nvPr/>
        </p:nvSpPr>
        <p:spPr>
          <a:xfrm>
            <a:off x="457200" y="1236911"/>
            <a:ext cx="4206812" cy="2963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33"/>
              </a:lnSpc>
              <a:spcAft>
                <a:spcPts val="1800"/>
              </a:spcAft>
              <a:buNone/>
            </a:pPr>
            <a:r>
              <a:rPr lang="en-US" sz="2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Immediate Action Items</a:t>
            </a:r>
            <a:endParaRPr lang="en-US" sz="2100" dirty="0"/>
          </a:p>
        </p:txBody>
      </p:sp>
      <p:sp>
        <p:nvSpPr>
          <p:cNvPr id="5" name="Text 2"/>
          <p:cNvSpPr/>
          <p:nvPr/>
        </p:nvSpPr>
        <p:spPr>
          <a:xfrm>
            <a:off x="457200" y="1761827"/>
            <a:ext cx="8229600" cy="1485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 1 Day 1: Set up GitHub repository</a:t>
            </a:r>
            <a:endParaRPr lang="en-US" sz="1350" dirty="0"/>
          </a:p>
          <a:p>
            <a:pPr algn="l" marL="342900" indent="-342900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 1 Day 2: Create Azure account and Terraform config</a:t>
            </a:r>
            <a:endParaRPr lang="en-US" sz="1350" dirty="0"/>
          </a:p>
          <a:p>
            <a:pPr algn="l" marL="342900" indent="-342900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 1 Day 3: Deploy first Kubernetes cluster</a:t>
            </a:r>
            <a:endParaRPr lang="en-US" sz="1350" dirty="0"/>
          </a:p>
          <a:p>
            <a:pPr algn="l" marL="342900" indent="-342900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 1 Day 4: Build first microservice (Equipment API)</a:t>
            </a:r>
            <a:endParaRPr lang="en-US" sz="1350" dirty="0"/>
          </a:p>
          <a:p>
            <a:pPr algn="l" marL="342900" indent="-342900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 1 Day 5: Set up CI/CD pipeline</a:t>
            </a:r>
            <a:endParaRPr lang="en-US" sz="1350" dirty="0"/>
          </a:p>
        </p:txBody>
      </p:sp>
      <p:sp>
        <p:nvSpPr>
          <p:cNvPr id="6" name="Text 3"/>
          <p:cNvSpPr/>
          <p:nvPr/>
        </p:nvSpPr>
        <p:spPr>
          <a:xfrm>
            <a:off x="457200" y="3628727"/>
            <a:ext cx="8394192" cy="4798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90"/>
              </a:lnSpc>
              <a:spcBef>
                <a:spcPts val="3000"/>
              </a:spcBef>
              <a:spcAft>
                <a:spcPts val="300"/>
              </a:spcAft>
              <a:buNone/>
            </a:pPr>
            <a:r>
              <a:rPr lang="en-US" sz="135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Remember: Each day delivers one production-quality layer. Build incrementally, deploy continuously, learn constantly.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457200" y="4337149"/>
            <a:ext cx="8394192" cy="2933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10"/>
              </a:lnSpc>
              <a:spcBef>
                <a:spcPts val="1500"/>
              </a:spcBef>
              <a:spcAft>
                <a:spcPts val="300"/>
              </a:spcAft>
              <a:buNone/>
            </a:pPr>
            <a:r>
              <a:rPr lang="en-US" sz="165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enterprise career starts NOW!</a:t>
            </a:r>
            <a:endParaRPr lang="en-US" sz="16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Enterprise Digital Twin Platform - 12-Week Roadmap</dc:title>
  <dc:subject>Production-Grade Architecture for AVEVA/Bentley/Siemens Positions</dc:subject>
  <dc:creator>Enterprise Architect</dc:creator>
  <cp:lastModifiedBy>Enterprise Architect</cp:lastModifiedBy>
  <cp:revision>1</cp:revision>
  <dcterms:created xsi:type="dcterms:W3CDTF">2025-11-16T03:00:12Z</dcterms:created>
  <dcterms:modified xsi:type="dcterms:W3CDTF">2025-11-16T03:00:12Z</dcterms:modified>
</cp:coreProperties>
</file>